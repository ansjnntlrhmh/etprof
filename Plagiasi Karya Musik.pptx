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31"/>
  </p:notesMasterIdLst>
  <p:sldIdLst>
    <p:sldId id="256" r:id="rId3"/>
    <p:sldId id="286" r:id="rId4"/>
    <p:sldId id="287" r:id="rId5"/>
    <p:sldId id="290" r:id="rId6"/>
    <p:sldId id="288" r:id="rId7"/>
    <p:sldId id="289" r:id="rId8"/>
    <p:sldId id="257" r:id="rId9"/>
    <p:sldId id="259" r:id="rId10"/>
    <p:sldId id="260" r:id="rId11"/>
    <p:sldId id="261" r:id="rId12"/>
    <p:sldId id="263" r:id="rId13"/>
    <p:sldId id="269" r:id="rId14"/>
    <p:sldId id="262"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3">
          <p15:clr>
            <a:srgbClr val="A4A3A4"/>
          </p15:clr>
        </p15:guide>
        <p15:guide id="2" pos="28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6" d="100"/>
          <a:sy n="96" d="100"/>
        </p:scale>
        <p:origin x="636" y="102"/>
      </p:cViewPr>
      <p:guideLst>
        <p:guide orient="horz" pos="1603"/>
        <p:guide pos="2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9/5/2021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8446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4" name="Content Placeholder 2"/>
          <p:cNvSpPr>
            <a:spLocks noGrp="1"/>
          </p:cNvSpPr>
          <p:nvPr>
            <p:ph idx="1"/>
          </p:nvPr>
        </p:nvSpPr>
        <p:spPr>
          <a:xfrm>
            <a:off x="395536" y="1131590"/>
            <a:ext cx="8496944" cy="460648"/>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5" name="Content Placeholder 2"/>
          <p:cNvSpPr>
            <a:spLocks noGrp="1"/>
          </p:cNvSpPr>
          <p:nvPr>
            <p:ph idx="10"/>
          </p:nvPr>
        </p:nvSpPr>
        <p:spPr>
          <a:xfrm>
            <a:off x="405880" y="1808261"/>
            <a:ext cx="8496944" cy="29957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19672" y="0"/>
            <a:ext cx="7524328" cy="88446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4" name="Content Placeholder 2"/>
          <p:cNvSpPr>
            <a:spLocks noGrp="1"/>
          </p:cNvSpPr>
          <p:nvPr>
            <p:ph idx="1"/>
          </p:nvPr>
        </p:nvSpPr>
        <p:spPr>
          <a:xfrm>
            <a:off x="1979712" y="987574"/>
            <a:ext cx="6912768" cy="460648"/>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5" name="Content Placeholder 2"/>
          <p:cNvSpPr>
            <a:spLocks noGrp="1"/>
          </p:cNvSpPr>
          <p:nvPr>
            <p:ph idx="10"/>
          </p:nvPr>
        </p:nvSpPr>
        <p:spPr>
          <a:xfrm>
            <a:off x="1990056" y="1664245"/>
            <a:ext cx="6912768" cy="29957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3937D59-5EDB-4C39-B697-625748F703B6}" type="datetimeFigureOut">
              <a:rPr lang="en-US" smtClean="0"/>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937D59-5EDB-4C39-B697-625748F703B6}" type="datetimeFigureOut">
              <a:rPr lang="en-US" smtClean="0"/>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937D59-5EDB-4C39-B697-625748F703B6}" type="datetimeFigureOut">
              <a:rPr lang="en-US" smtClean="0"/>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937D59-5EDB-4C39-B697-625748F703B6}" type="datetimeFigureOut">
              <a:rPr lang="en-US" smtClean="0"/>
              <a:t>9/5/2021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937D59-5EDB-4C39-B697-625748F703B6}" type="datetimeFigureOut">
              <a:rPr lang="en-US" smtClean="0"/>
              <a:t>9/5/2021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937D59-5EDB-4C39-B697-625748F703B6}" type="datetimeFigureOut">
              <a:rPr lang="en-US" smtClean="0"/>
              <a:t>9/5/2021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937D59-5EDB-4C39-B697-625748F703B6}" type="datetimeFigureOut">
              <a:rPr lang="en-US" smtClean="0"/>
              <a:t>9/5/2021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937D59-5EDB-4C39-B697-625748F703B6}" type="datetimeFigureOut">
              <a:rPr lang="en-US" smtClean="0"/>
              <a:t>9/5/2021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937D59-5EDB-4C39-B697-625748F703B6}" type="datetimeFigureOut">
              <a:rPr lang="en-US" smtClean="0"/>
              <a:t>9/5/2021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937D59-5EDB-4C39-B697-625748F703B6}" type="datetimeFigureOut">
              <a:rPr lang="en-US" smtClean="0"/>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937D59-5EDB-4C39-B697-625748F703B6}" type="datetimeFigureOut">
              <a:rPr lang="en-US" smtClean="0"/>
              <a:t>9/5/2021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1" hangingPunct="1">
        <a:spcBef>
          <a:spcPct val="0"/>
        </a:spcBef>
        <a:buNone/>
        <a:defRPr sz="3600" b="1"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63937D59-5EDB-4C39-B697-625748F703B6}" type="datetimeFigureOut">
              <a:rPr lang="en-US" smtClean="0"/>
              <a:t>9/5/2021</a:t>
            </a:fld>
            <a:endParaRPr lang="en-US"/>
          </a:p>
        </p:txBody>
      </p:sp>
      <p:sp>
        <p:nvSpPr>
          <p:cNvPr id="5" name="Footer Placeholder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0F31DC1F-5561-484E-AB46-68C682854F6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23929" y="1173981"/>
            <a:ext cx="4860030" cy="460375"/>
          </a:xfrm>
          <a:prstGeom prst="rect">
            <a:avLst/>
          </a:prstGeom>
          <a:noFill/>
        </p:spPr>
        <p:txBody>
          <a:bodyPr wrap="square">
            <a:spAutoFit/>
          </a:bodyPr>
          <a:lstStyle/>
          <a:p>
            <a:pPr algn="r" fontAlgn="auto">
              <a:spcBef>
                <a:spcPts val="0"/>
              </a:spcBef>
              <a:spcAft>
                <a:spcPts val="0"/>
              </a:spcAft>
              <a:defRPr/>
            </a:pPr>
            <a:r>
              <a:rPr kumimoji="0" lang="en-US" altLang="ko-KR" sz="1200" b="1" dirty="0">
                <a:solidFill>
                  <a:schemeClr val="tx1">
                    <a:lumMod val="75000"/>
                    <a:lumOff val="25000"/>
                  </a:schemeClr>
                </a:solidFill>
                <a:latin typeface="Arial" panose="020B0604020202020204" pitchFamily="34" charset="0"/>
                <a:cs typeface="Arial" panose="020B0604020202020204" pitchFamily="34" charset="0"/>
              </a:rPr>
              <a:t>Kelompok 1</a:t>
            </a:r>
          </a:p>
          <a:p>
            <a:pPr algn="r" fontAlgn="auto">
              <a:spcBef>
                <a:spcPts val="0"/>
              </a:spcBef>
              <a:spcAft>
                <a:spcPts val="0"/>
              </a:spcAft>
              <a:defRPr/>
            </a:pPr>
            <a:r>
              <a:rPr kumimoji="0" lang="en-US" altLang="ko-KR" sz="1200" b="1" dirty="0">
                <a:solidFill>
                  <a:schemeClr val="tx1">
                    <a:lumMod val="75000"/>
                    <a:lumOff val="25000"/>
                  </a:schemeClr>
                </a:solidFill>
                <a:latin typeface="Arial" panose="020B0604020202020204" pitchFamily="34" charset="0"/>
                <a:cs typeface="Arial" panose="020B0604020202020204" pitchFamily="34" charset="0"/>
              </a:rPr>
              <a:t>Sistem Informasi A 2019    </a:t>
            </a:r>
          </a:p>
        </p:txBody>
      </p:sp>
      <p:sp>
        <p:nvSpPr>
          <p:cNvPr id="5" name="TextBox 1"/>
          <p:cNvSpPr txBox="1">
            <a:spLocks noChangeArrowheads="1"/>
          </p:cNvSpPr>
          <p:nvPr/>
        </p:nvSpPr>
        <p:spPr bwMode="auto">
          <a:xfrm>
            <a:off x="3707765" y="195580"/>
            <a:ext cx="5079365" cy="1076325"/>
          </a:xfrm>
          <a:prstGeom prst="rect">
            <a:avLst/>
          </a:prstGeom>
          <a:noFill/>
          <a:ln w="9525">
            <a:noFill/>
            <a:miter lim="800000"/>
          </a:ln>
        </p:spPr>
        <p:txBody>
          <a:bodyPr wrap="square">
            <a:spAutoFit/>
          </a:bodyPr>
          <a:lstStyle/>
          <a:p>
            <a:pPr algn="r"/>
            <a:r>
              <a:rPr lang="en-US" altLang="ko-KR" sz="3200" b="1" dirty="0">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ANALISIS KASUS</a:t>
            </a:r>
          </a:p>
          <a:p>
            <a:pPr algn="r"/>
            <a:r>
              <a:rPr lang="en-US" altLang="ko-KR" sz="3200" b="1" dirty="0">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PLAGIASI KARYA MUSIK</a:t>
            </a:r>
          </a:p>
        </p:txBody>
      </p:sp>
      <p:sp>
        <p:nvSpPr>
          <p:cNvPr id="6" name="Content Placeholder 1"/>
          <p:cNvSpPr>
            <a:spLocks noGrp="1"/>
          </p:cNvSpPr>
          <p:nvPr/>
        </p:nvSpPr>
        <p:spPr>
          <a:xfrm>
            <a:off x="4178935" y="2355850"/>
            <a:ext cx="4809490" cy="1953260"/>
          </a:xfrm>
          <a:prstGeom prst="rect">
            <a:avLst/>
          </a:prstGeom>
        </p:spPr>
        <p:txBody>
          <a:bodyPr anchor="ctr"/>
          <a:lstStyle>
            <a:lvl1pPr marL="0" indent="0" algn="l" defTabSz="914400" rtl="0" eaLnBrk="1" latinLnBrk="1" hangingPunct="1">
              <a:spcBef>
                <a:spcPct val="20000"/>
              </a:spcBef>
              <a:buFont typeface="Arial" panose="020B0604020202020204" pitchFamily="34" charset="0"/>
              <a:buNone/>
              <a:defRPr sz="2000" kern="1200">
                <a:solidFill>
                  <a:schemeClr val="tx1">
                    <a:lumMod val="75000"/>
                    <a:lumOff val="25000"/>
                  </a:schemeClr>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r"/>
            <a:r>
              <a:rPr lang="en-US" sz="1600" b="1" dirty="0">
                <a:latin typeface="Arial" panose="020B0604020202020204" pitchFamily="34" charset="0"/>
                <a:cs typeface="Arial" panose="020B0604020202020204" pitchFamily="34" charset="0"/>
              </a:rPr>
              <a:t>Nama dan NIM anggota kelompok :</a:t>
            </a:r>
          </a:p>
          <a:p>
            <a:pPr algn="r"/>
            <a:r>
              <a:rPr lang="en-US" sz="1600" b="1" dirty="0">
                <a:latin typeface="Arial" panose="020B0604020202020204" pitchFamily="34" charset="0"/>
                <a:cs typeface="Arial" panose="020B0604020202020204" pitchFamily="34" charset="0"/>
              </a:rPr>
              <a:t>1. Yuvanda Ramadhani - 1915036008</a:t>
            </a:r>
          </a:p>
          <a:p>
            <a:pPr algn="r"/>
            <a:r>
              <a:rPr lang="en-US" sz="1600" b="1" dirty="0">
                <a:latin typeface="Arial" panose="020B0604020202020204" pitchFamily="34" charset="0"/>
                <a:cs typeface="Arial" panose="020B0604020202020204" pitchFamily="34" charset="0"/>
              </a:rPr>
              <a:t>2. Harrys Qomarul Zamani - 1915036011</a:t>
            </a:r>
          </a:p>
          <a:p>
            <a:pPr algn="r"/>
            <a:r>
              <a:rPr lang="en-US" sz="1600" b="1" dirty="0">
                <a:latin typeface="Arial" panose="020B0604020202020204" pitchFamily="34" charset="0"/>
                <a:cs typeface="Arial" panose="020B0604020202020204" pitchFamily="34" charset="0"/>
              </a:rPr>
              <a:t>3. Ariya Kusumadewa - 1915036021</a:t>
            </a:r>
          </a:p>
          <a:p>
            <a:pPr algn="r"/>
            <a:r>
              <a:rPr lang="en-US" sz="1600" b="1" dirty="0">
                <a:latin typeface="Arial" panose="020B0604020202020204" pitchFamily="34" charset="0"/>
                <a:cs typeface="Arial" panose="020B0604020202020204" pitchFamily="34" charset="0"/>
              </a:rPr>
              <a:t>4. Rizky Nur Intarsobarul Syawal - 1915036027</a:t>
            </a:r>
          </a:p>
          <a:p>
            <a:pPr algn="r"/>
            <a:r>
              <a:rPr lang="en-US" sz="1600" b="1" dirty="0">
                <a:latin typeface="Arial" panose="020B0604020202020204" pitchFamily="34" charset="0"/>
                <a:cs typeface="Arial" panose="020B0604020202020204" pitchFamily="34" charset="0"/>
              </a:rPr>
              <a:t>5. Anisa Jannatul Rahmah - 1915036039</a:t>
            </a:r>
          </a:p>
        </p:txBody>
      </p:sp>
    </p:spTree>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155877"/>
            <a:ext cx="9144000" cy="276999"/>
          </a:xfrm>
          <a:prstGeom prst="rect">
            <a:avLst/>
          </a:prstGeom>
          <a:noFill/>
        </p:spPr>
        <p:txBody>
          <a:bodyPr wrap="square">
            <a:spAutoFit/>
          </a:bodyPr>
          <a:lstStyle/>
          <a:p>
            <a:pPr algn="ctr" fontAlgn="auto">
              <a:spcBef>
                <a:spcPts val="0"/>
              </a:spcBef>
              <a:spcAft>
                <a:spcPts val="0"/>
              </a:spcAft>
              <a:defRPr/>
            </a:pPr>
            <a:r>
              <a:rPr kumimoji="0" lang="en-US" altLang="ko-KR" sz="1200" b="1" dirty="0" err="1">
                <a:solidFill>
                  <a:schemeClr val="tx1">
                    <a:lumMod val="75000"/>
                    <a:lumOff val="25000"/>
                  </a:schemeClr>
                </a:solidFill>
                <a:latin typeface="Arial" panose="020B0604020202020204" pitchFamily="34" charset="0"/>
                <a:cs typeface="Arial" panose="020B0604020202020204" pitchFamily="34" charset="0"/>
              </a:rPr>
              <a:t>Kasus</a:t>
            </a:r>
            <a:r>
              <a:rPr kumimoji="0" lang="en-US" altLang="ko-KR" sz="1200" b="1" dirty="0">
                <a:solidFill>
                  <a:schemeClr val="tx1">
                    <a:lumMod val="75000"/>
                    <a:lumOff val="25000"/>
                  </a:schemeClr>
                </a:solidFill>
                <a:latin typeface="Arial" panose="020B0604020202020204" pitchFamily="34" charset="0"/>
                <a:cs typeface="Arial" panose="020B0604020202020204" pitchFamily="34" charset="0"/>
              </a:rPr>
              <a:t> Plagiat Lagu Kasih </a:t>
            </a:r>
            <a:r>
              <a:rPr kumimoji="0" lang="en-US" altLang="ko-KR" sz="1200" b="1" dirty="0" err="1">
                <a:solidFill>
                  <a:schemeClr val="tx1">
                    <a:lumMod val="75000"/>
                    <a:lumOff val="25000"/>
                  </a:schemeClr>
                </a:solidFill>
                <a:latin typeface="Arial" panose="020B0604020202020204" pitchFamily="34" charset="0"/>
                <a:cs typeface="Arial" panose="020B0604020202020204" pitchFamily="34" charset="0"/>
              </a:rPr>
              <a:t>Dengarkanlah</a:t>
            </a:r>
            <a:r>
              <a:rPr kumimoji="0" lang="en-US" altLang="ko-KR" sz="1200" b="1" dirty="0">
                <a:solidFill>
                  <a:schemeClr val="tx1">
                    <a:lumMod val="75000"/>
                    <a:lumOff val="25000"/>
                  </a:schemeClr>
                </a:solidFill>
                <a:latin typeface="Arial" panose="020B0604020202020204" pitchFamily="34" charset="0"/>
                <a:cs typeface="Arial" panose="020B0604020202020204" pitchFamily="34" charset="0"/>
              </a:rPr>
              <a:t> Aku by Via </a:t>
            </a:r>
            <a:r>
              <a:rPr kumimoji="0" lang="en-US" altLang="ko-KR" sz="1200" b="1" dirty="0" err="1">
                <a:solidFill>
                  <a:schemeClr val="tx1">
                    <a:lumMod val="75000"/>
                    <a:lumOff val="25000"/>
                  </a:schemeClr>
                </a:solidFill>
                <a:latin typeface="Arial" panose="020B0604020202020204" pitchFamily="34" charset="0"/>
                <a:cs typeface="Arial" panose="020B0604020202020204" pitchFamily="34" charset="0"/>
              </a:rPr>
              <a:t>Vallen</a:t>
            </a:r>
            <a:endParaRPr kumimoji="0" lang="en-US" altLang="ko-KR" sz="12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 name="TextBox 1"/>
          <p:cNvSpPr txBox="1">
            <a:spLocks noChangeArrowheads="1"/>
          </p:cNvSpPr>
          <p:nvPr/>
        </p:nvSpPr>
        <p:spPr bwMode="auto">
          <a:xfrm>
            <a:off x="1961964" y="78659"/>
            <a:ext cx="4860032" cy="1077218"/>
          </a:xfrm>
          <a:prstGeom prst="rect">
            <a:avLst/>
          </a:prstGeom>
          <a:noFill/>
          <a:ln w="9525">
            <a:noFill/>
            <a:miter lim="800000"/>
          </a:ln>
        </p:spPr>
        <p:txBody>
          <a:bodyPr wrap="square">
            <a:spAutoFit/>
          </a:bodyPr>
          <a:lstStyle/>
          <a:p>
            <a:pPr algn="ctr"/>
            <a:r>
              <a:rPr lang="en-US" altLang="ko-KR" sz="3200" b="1" dirty="0" err="1">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Kasus</a:t>
            </a:r>
            <a:r>
              <a:rPr lang="en-US" altLang="ko-KR" sz="3200" b="1" dirty="0">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 Plagiat </a:t>
            </a:r>
            <a:r>
              <a:rPr lang="en-US" altLang="ko-KR" sz="3200" b="1" dirty="0" err="1">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Musik</a:t>
            </a:r>
            <a:endParaRPr lang="en-US" altLang="ko-KR" sz="3200" b="1" dirty="0">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endParaRPr>
          </a:p>
          <a:p>
            <a:pPr algn="ctr"/>
            <a:r>
              <a:rPr lang="en-US" altLang="ko-KR" sz="3200" b="1" dirty="0">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Indonesia</a:t>
            </a:r>
          </a:p>
        </p:txBody>
      </p:sp>
    </p:spTree>
  </p:cSld>
  <p:clrMapOvr>
    <a:masterClrMapping/>
  </p:clrMapOvr>
  <p:transition>
    <p:newsfla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Alur </a:t>
            </a:r>
            <a:r>
              <a:rPr lang="en-US" dirty="0" err="1"/>
              <a:t>Kasus</a:t>
            </a:r>
            <a:endParaRPr lang="en-US" dirty="0"/>
          </a:p>
        </p:txBody>
      </p:sp>
      <p:sp>
        <p:nvSpPr>
          <p:cNvPr id="7" name="TextBox 6"/>
          <p:cNvSpPr txBox="1"/>
          <p:nvPr/>
        </p:nvSpPr>
        <p:spPr>
          <a:xfrm>
            <a:off x="0" y="987574"/>
            <a:ext cx="9144000" cy="2410916"/>
          </a:xfrm>
          <a:prstGeom prst="rect">
            <a:avLst/>
          </a:prstGeom>
          <a:noFill/>
        </p:spPr>
        <p:txBody>
          <a:bodyPr wrap="square">
            <a:spAutoFit/>
          </a:bodyPr>
          <a:lstStyle/>
          <a:p>
            <a:pPr indent="457200" algn="just" rtl="0">
              <a:spcBef>
                <a:spcPts val="0"/>
              </a:spcBef>
              <a:spcAft>
                <a:spcPts val="800"/>
              </a:spcAft>
            </a:pP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Kasus</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plagiarisme</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adalah</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kasus</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yang paling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susah</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dihindari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karena</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semua</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orang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dapat</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melakukannya</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dan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jika</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tidak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diketahui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seseorang</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dapat</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meraup</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keuntungan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mengambil</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ide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seseorang</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tanpa</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izin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Setahun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yang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lalu</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salah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satu</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pe</a:t>
            </a:r>
            <a:r>
              <a:rPr lang="en-ID" sz="1600" dirty="0" err="1">
                <a:solidFill>
                  <a:srgbClr val="000000"/>
                </a:solidFill>
                <a:latin typeface="Times New Roman" panose="02020603050405020304" pitchFamily="18" charset="0"/>
                <a:cs typeface="Times New Roman" panose="02020603050405020304" pitchFamily="18" charset="0"/>
              </a:rPr>
              <a:t>nyanyi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di Indonesia </a:t>
            </a:r>
            <a:r>
              <a:rPr lang="en-ID" sz="1600" dirty="0" err="1">
                <a:solidFill>
                  <a:srgbClr val="000000"/>
                </a:solidFill>
                <a:latin typeface="Times New Roman" panose="02020603050405020304" pitchFamily="18" charset="0"/>
                <a:cs typeface="Times New Roman" panose="02020603050405020304" pitchFamily="18" charset="0"/>
              </a:rPr>
              <a:t>yaitu</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dengan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lagunya</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yang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berjudul</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“Kasih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Dengarkanlah</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Aku”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diberitakan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menjiplak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salah </a:t>
            </a:r>
            <a:r>
              <a:rPr lang="en-ID" sz="1600" dirty="0" err="1">
                <a:solidFill>
                  <a:srgbClr val="000000"/>
                </a:solidFill>
                <a:latin typeface="Times New Roman" panose="02020603050405020304" pitchFamily="18" charset="0"/>
                <a:cs typeface="Times New Roman" panose="02020603050405020304" pitchFamily="18" charset="0"/>
              </a:rPr>
              <a:t>satu</a:t>
            </a:r>
            <a:r>
              <a:rPr lang="en-ID" sz="1600" dirty="0">
                <a:solidFill>
                  <a:srgbClr val="000000"/>
                </a:solidFill>
                <a:latin typeface="Times New Roman" panose="02020603050405020304" pitchFamily="18" charset="0"/>
                <a:cs typeface="Times New Roman" panose="02020603050405020304" pitchFamily="18" charset="0"/>
              </a:rPr>
              <a:t> </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video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milik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IU,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seorang</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penyanyi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asal</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Korea Selatan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dengan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judul</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1" u="none" strike="noStrike" dirty="0">
                <a:solidFill>
                  <a:srgbClr val="000000"/>
                </a:solidFill>
                <a:effectLst/>
                <a:latin typeface="Times New Roman" panose="02020603050405020304" pitchFamily="18" charset="0"/>
                <a:cs typeface="Times New Roman" panose="02020603050405020304" pitchFamily="18" charset="0"/>
              </a:rPr>
              <a:t>Above The Time</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D" sz="1600" b="0" dirty="0">
              <a:effectLst/>
              <a:latin typeface="Times New Roman" panose="02020603050405020304" pitchFamily="18" charset="0"/>
              <a:cs typeface="Times New Roman" panose="02020603050405020304" pitchFamily="18" charset="0"/>
            </a:endParaRPr>
          </a:p>
          <a:p>
            <a:pPr indent="457200" algn="just" rtl="0">
              <a:spcBef>
                <a:spcPts val="0"/>
              </a:spcBef>
              <a:spcAft>
                <a:spcPts val="800"/>
              </a:spcAft>
            </a:pPr>
            <a:r>
              <a:rPr lang="en-ID" sz="1600" b="0" i="0" u="none" strike="noStrike" dirty="0">
                <a:solidFill>
                  <a:srgbClr val="000000"/>
                </a:solidFill>
                <a:effectLst/>
                <a:latin typeface="Times New Roman" panose="02020603050405020304" pitchFamily="18" charset="0"/>
                <a:cs typeface="Times New Roman" panose="02020603050405020304" pitchFamily="18" charset="0"/>
              </a:rPr>
              <a:t>Banya</a:t>
            </a:r>
            <a:r>
              <a:rPr lang="en-ID" sz="1600" dirty="0">
                <a:solidFill>
                  <a:srgbClr val="000000"/>
                </a:solidFill>
                <a:latin typeface="Times New Roman" panose="02020603050405020304" pitchFamily="18" charset="0"/>
                <a:cs typeface="Times New Roman" panose="02020603050405020304" pitchFamily="18" charset="0"/>
              </a:rPr>
              <a:t>k </a:t>
            </a:r>
            <a:r>
              <a:rPr lang="en-ID" sz="1600" dirty="0" err="1">
                <a:solidFill>
                  <a:srgbClr val="000000"/>
                </a:solidFill>
                <a:latin typeface="Times New Roman" panose="02020603050405020304" pitchFamily="18" charset="0"/>
                <a:cs typeface="Times New Roman" panose="02020603050405020304" pitchFamily="18" charset="0"/>
              </a:rPr>
              <a:t>pengguna</a:t>
            </a:r>
            <a:r>
              <a:rPr lang="en-ID" sz="1600" dirty="0">
                <a:solidFill>
                  <a:srgbClr val="000000"/>
                </a:solidFill>
                <a:latin typeface="Times New Roman" panose="02020603050405020304" pitchFamily="18" charset="0"/>
                <a:cs typeface="Times New Roman" panose="02020603050405020304" pitchFamily="18" charset="0"/>
              </a:rPr>
              <a:t> media </a:t>
            </a:r>
            <a:r>
              <a:rPr lang="en-ID" sz="1600" dirty="0" err="1">
                <a:solidFill>
                  <a:srgbClr val="000000"/>
                </a:solidFill>
                <a:latin typeface="Times New Roman" panose="02020603050405020304" pitchFamily="18" charset="0"/>
                <a:cs typeface="Times New Roman" panose="02020603050405020304" pitchFamily="18" charset="0"/>
              </a:rPr>
              <a:t>sosial</a:t>
            </a:r>
            <a:r>
              <a:rPr lang="en-ID" sz="1600" dirty="0">
                <a:solidFill>
                  <a:srgbClr val="000000"/>
                </a:solidFill>
                <a:latin typeface="Times New Roman" panose="02020603050405020304" pitchFamily="18" charset="0"/>
                <a:cs typeface="Times New Roman" panose="02020603050405020304" pitchFamily="18" charset="0"/>
              </a:rPr>
              <a:t> </a:t>
            </a:r>
            <a:r>
              <a:rPr lang="en-ID" sz="1600" dirty="0" err="1">
                <a:solidFill>
                  <a:srgbClr val="000000"/>
                </a:solidFill>
                <a:latin typeface="Times New Roman" panose="02020603050405020304" pitchFamily="18" charset="0"/>
                <a:cs typeface="Times New Roman" panose="02020603050405020304" pitchFamily="18" charset="0"/>
              </a:rPr>
              <a:t>ber</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komentar</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di video “Kasih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Dengarkanlah</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Aku”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milik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600" dirty="0">
                <a:solidFill>
                  <a:srgbClr val="000000"/>
                </a:solidFill>
                <a:latin typeface="Times New Roman" panose="02020603050405020304" pitchFamily="18" charset="0"/>
                <a:cs typeface="Times New Roman" panose="02020603050405020304" pitchFamily="18" charset="0"/>
              </a:rPr>
              <a:t> </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yang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dikatakan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menjiplak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video IU “</a:t>
            </a:r>
            <a:r>
              <a:rPr lang="en-ID" sz="1600" b="0" i="1" u="none" strike="noStrike" dirty="0">
                <a:solidFill>
                  <a:srgbClr val="000000"/>
                </a:solidFill>
                <a:effectLst/>
                <a:latin typeface="Times New Roman" panose="02020603050405020304" pitchFamily="18" charset="0"/>
                <a:cs typeface="Times New Roman" panose="02020603050405020304" pitchFamily="18" charset="0"/>
              </a:rPr>
              <a:t>Above The Time</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dipenuhi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oleh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kritikan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para fans UI, UAENA. </a:t>
            </a:r>
            <a:r>
              <a:rPr lang="en-ID" sz="1600" dirty="0">
                <a:solidFill>
                  <a:srgbClr val="000000"/>
                </a:solidFill>
                <a:latin typeface="Times New Roman" panose="02020603050405020304" pitchFamily="18" charset="0"/>
                <a:cs typeface="Times New Roman" panose="02020603050405020304" pitchFamily="18" charset="0"/>
              </a:rPr>
              <a:t>Para </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fans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UAENA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menginginkan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pihak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untuk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segera</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mengambil</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tindakan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kemiripan</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600" b="0" i="0" u="none" strike="noStrike" dirty="0" err="1">
                <a:solidFill>
                  <a:srgbClr val="000000"/>
                </a:solidFill>
                <a:effectLst/>
                <a:latin typeface="Times New Roman" panose="02020603050405020304" pitchFamily="18" charset="0"/>
                <a:cs typeface="Times New Roman" panose="02020603050405020304" pitchFamily="18" charset="0"/>
              </a:rPr>
              <a:t>tersebut</a:t>
            </a:r>
            <a:r>
              <a:rPr lang="en-ID" sz="16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D" sz="1600" b="0" dirty="0">
              <a:effectLst/>
              <a:latin typeface="Times New Roman" panose="02020603050405020304" pitchFamily="18" charset="0"/>
              <a:cs typeface="Times New Roman" panose="02020603050405020304" pitchFamily="18" charset="0"/>
            </a:endParaRPr>
          </a:p>
        </p:txBody>
      </p:sp>
    </p:spTree>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E1DCF80A-4550-4ED7-A9A9-6927D5C17971}"/>
              </a:ext>
            </a:extLst>
          </p:cNvPr>
          <p:cNvSpPr>
            <a:spLocks noGrp="1"/>
          </p:cNvSpPr>
          <p:nvPr>
            <p:ph type="title"/>
          </p:nvPr>
        </p:nvSpPr>
        <p:spPr>
          <a:xfrm>
            <a:off x="1547664" y="0"/>
            <a:ext cx="7596336" cy="1275606"/>
          </a:xfrm>
        </p:spPr>
        <p:txBody>
          <a:bodyPr/>
          <a:lstStyle/>
          <a:p>
            <a:r>
              <a:rPr lang="en-US" sz="3200" dirty="0">
                <a:sym typeface="+mn-ea"/>
              </a:rPr>
              <a:t>Alur Plagiasi Musik di Dalam Negeri </a:t>
            </a:r>
            <a:br>
              <a:rPr lang="en-US" dirty="0">
                <a:sym typeface="+mn-ea"/>
              </a:rPr>
            </a:br>
            <a:r>
              <a:rPr lang="en-US" sz="2000" dirty="0">
                <a:sym typeface="+mn-ea"/>
              </a:rPr>
              <a:t>(Lanjutan </a:t>
            </a:r>
            <a:r>
              <a:rPr lang="en-US" sz="2000" dirty="0" err="1">
                <a:sym typeface="+mn-ea"/>
              </a:rPr>
              <a:t>Kasus</a:t>
            </a:r>
            <a:r>
              <a:rPr lang="en-US" sz="2000" dirty="0">
                <a:sym typeface="+mn-ea"/>
              </a:rPr>
              <a:t> 1)</a:t>
            </a:r>
            <a:br>
              <a:rPr lang="en-US" dirty="0"/>
            </a:br>
            <a:endParaRPr lang="ko-KR" altLang="en-US" dirty="0"/>
          </a:p>
        </p:txBody>
      </p:sp>
      <p:sp>
        <p:nvSpPr>
          <p:cNvPr id="6" name="TextBox 5">
            <a:extLst>
              <a:ext uri="{FF2B5EF4-FFF2-40B4-BE49-F238E27FC236}">
                <a16:creationId xmlns:a16="http://schemas.microsoft.com/office/drawing/2014/main" id="{FE4EE125-D581-4FBC-934D-EDBDA96A015F}"/>
              </a:ext>
            </a:extLst>
          </p:cNvPr>
          <p:cNvSpPr txBox="1"/>
          <p:nvPr/>
        </p:nvSpPr>
        <p:spPr>
          <a:xfrm flipH="1">
            <a:off x="1553952" y="843558"/>
            <a:ext cx="7596336" cy="369331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Terdapat beberapa </a:t>
            </a:r>
            <a:r>
              <a:rPr lang="en-US" dirty="0" err="1">
                <a:latin typeface="Times New Roman" panose="02020603050405020304" pitchFamily="18" charset="0"/>
                <a:cs typeface="Times New Roman" panose="02020603050405020304" pitchFamily="18" charset="0"/>
              </a:rPr>
              <a:t>fakta</a:t>
            </a:r>
            <a:r>
              <a:rPr lang="en-US" dirty="0">
                <a:latin typeface="Times New Roman" panose="02020603050405020304" pitchFamily="18" charset="0"/>
                <a:cs typeface="Times New Roman" panose="02020603050405020304" pitchFamily="18" charset="0"/>
              </a:rPr>
              <a:t> dalam </a:t>
            </a:r>
            <a:r>
              <a:rPr lang="en-US" dirty="0" err="1">
                <a:latin typeface="Times New Roman" panose="02020603050405020304" pitchFamily="18" charset="0"/>
                <a:cs typeface="Times New Roman" panose="02020603050405020304" pitchFamily="18" charset="0"/>
              </a:rPr>
              <a:t>kasus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ini</a:t>
            </a:r>
            <a:r>
              <a:rPr lang="en-US" dirty="0">
                <a:latin typeface="Times New Roman" panose="02020603050405020304" pitchFamily="18" charset="0"/>
                <a:cs typeface="Times New Roman" panose="02020603050405020304" pitchFamily="18" charset="0"/>
              </a:rPr>
              <a:t> seperti:</a:t>
            </a:r>
          </a:p>
          <a:p>
            <a:pPr marL="285750" indent="-285750">
              <a:buFont typeface="Arial" panose="020B0604020202020204" pitchFamily="34" charset="0"/>
              <a:buChar char="•"/>
            </a:pP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Pihak</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manajemen</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Ascada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angkat</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bicara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mengenai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masalah</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ini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dan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mengaku</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tidak</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mengetahui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tentang</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plagiarisme</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tersebut</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Manajernya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mengaku</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bahwa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mereka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hanya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menerima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konsep</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atau</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ide yang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ditawarkan</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oleh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sutradaranya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Chris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Sinyal</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a:t>
            </a:r>
          </a:p>
          <a:p>
            <a:endParaRPr lang="en-ID"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Pihak</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manajemen</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memberitahu</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bahwa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penyanyi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lagu</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“Kasih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Dengarkanlah</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Aku”,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yaitu</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dan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Dyrga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Dadali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hanya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menjalankan</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tugas</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mereka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sebagai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penyanyi</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dan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tidak</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ikut</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serta</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dalam</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memberikan</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konsep</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ide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untuk</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cs typeface="Times New Roman" panose="02020603050405020304" pitchFamily="18" charset="0"/>
              </a:rPr>
              <a:t>tersebut</a:t>
            </a:r>
            <a:r>
              <a:rPr lang="en-ID" sz="1800" b="0" i="0" u="none" strike="noStrike" dirty="0">
                <a:solidFill>
                  <a:srgbClr val="000000"/>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ID"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D" dirty="0">
                <a:latin typeface="Times New Roman" panose="02020603050405020304" pitchFamily="18" charset="0"/>
                <a:cs typeface="Times New Roman" panose="02020603050405020304" pitchFamily="18" charset="0"/>
              </a:rPr>
              <a:t>Via </a:t>
            </a:r>
            <a:r>
              <a:rPr lang="en-ID" dirty="0" err="1">
                <a:latin typeface="Times New Roman" panose="02020603050405020304" pitchFamily="18" charset="0"/>
                <a:cs typeface="Times New Roman" panose="02020603050405020304" pitchFamily="18" charset="0"/>
              </a:rPr>
              <a:t>Vallen</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sama</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sekali</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tidak</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ada</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unsur</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kesengajaan</a:t>
            </a:r>
            <a:r>
              <a:rPr lang="en-ID" dirty="0">
                <a:latin typeface="Times New Roman" panose="02020603050405020304" pitchFamily="18" charset="0"/>
                <a:cs typeface="Times New Roman" panose="02020603050405020304" pitchFamily="18" charset="0"/>
              </a:rPr>
              <a:t> pada video music </a:t>
            </a:r>
            <a:r>
              <a:rPr lang="en-ID" dirty="0" err="1">
                <a:latin typeface="Times New Roman" panose="02020603050405020304" pitchFamily="18" charset="0"/>
                <a:cs typeface="Times New Roman" panose="02020603050405020304" pitchFamily="18" charset="0"/>
              </a:rPr>
              <a:t>miliknya</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karena</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dia</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sendiri</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bukan</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penggemar</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dari</a:t>
            </a:r>
            <a:r>
              <a:rPr lang="en-ID" dirty="0">
                <a:latin typeface="Times New Roman" panose="02020603050405020304" pitchFamily="18" charset="0"/>
                <a:cs typeface="Times New Roman" panose="02020603050405020304" pitchFamily="18" charset="0"/>
              </a:rPr>
              <a:t> </a:t>
            </a:r>
            <a:r>
              <a:rPr lang="en-ID" dirty="0" err="1">
                <a:latin typeface="Times New Roman" panose="02020603050405020304" pitchFamily="18" charset="0"/>
                <a:cs typeface="Times New Roman" panose="02020603050405020304" pitchFamily="18" charset="0"/>
              </a:rPr>
              <a:t>lagu</a:t>
            </a:r>
            <a:r>
              <a:rPr lang="en-ID" dirty="0">
                <a:latin typeface="Times New Roman" panose="02020603050405020304" pitchFamily="18" charset="0"/>
                <a:cs typeface="Times New Roman" panose="02020603050405020304" pitchFamily="18" charset="0"/>
              </a:rPr>
              <a:t> K-pop</a:t>
            </a:r>
          </a:p>
        </p:txBody>
      </p:sp>
    </p:spTree>
    <p:extLst>
      <p:ext uri="{BB962C8B-B14F-4D97-AF65-F5344CB8AC3E}">
        <p14:creationId xmlns:p14="http://schemas.microsoft.com/office/powerpoint/2010/main" val="317566118"/>
      </p:ext>
    </p:extLst>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ko-KR" dirty="0" err="1"/>
              <a:t>Dampak</a:t>
            </a:r>
            <a:r>
              <a:rPr lang="en-US" altLang="ko-KR" dirty="0"/>
              <a:t> Yang Di Dapat</a:t>
            </a:r>
            <a:endParaRPr lang="ko-KR" altLang="en-US" dirty="0"/>
          </a:p>
        </p:txBody>
      </p:sp>
      <p:sp>
        <p:nvSpPr>
          <p:cNvPr id="9" name="TextBox 8"/>
          <p:cNvSpPr txBox="1"/>
          <p:nvPr/>
        </p:nvSpPr>
        <p:spPr>
          <a:xfrm>
            <a:off x="1619672" y="885924"/>
            <a:ext cx="7524328" cy="3621504"/>
          </a:xfrm>
          <a:prstGeom prst="rect">
            <a:avLst/>
          </a:prstGeom>
          <a:noFill/>
        </p:spPr>
        <p:txBody>
          <a:bodyPr wrap="square">
            <a:spAutoFit/>
          </a:bodyPr>
          <a:lstStyle/>
          <a:p>
            <a:pPr marL="285750" indent="-285750" rtl="0" fontAlgn="base">
              <a:spcBef>
                <a:spcPts val="0"/>
              </a:spcBef>
              <a:spcAft>
                <a:spcPts val="800"/>
              </a:spcAft>
              <a:buFont typeface="Arial" panose="020B0604020202020204" pitchFamily="34" charset="0"/>
              <a:buChar char="•"/>
            </a:pP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Mendapatkan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amarah</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fans IU, UAENA</a:t>
            </a:r>
          </a:p>
          <a:p>
            <a:pPr rtl="0" fontAlgn="base">
              <a:spcBef>
                <a:spcPts val="0"/>
              </a:spcBef>
              <a:spcAft>
                <a:spcPts val="800"/>
              </a:spcAft>
            </a:pPr>
            <a:r>
              <a:rPr lang="en-ID" sz="1400" b="0" i="0" u="none" strike="noStrike" dirty="0">
                <a:solidFill>
                  <a:srgbClr val="000000"/>
                </a:solidFill>
                <a:effectLst/>
                <a:latin typeface="Times New Roman" panose="02020603050405020304" pitchFamily="18" charset="0"/>
                <a:cs typeface="Times New Roman" panose="02020603050405020304" pitchFamily="18" charset="0"/>
              </a:rPr>
              <a:t>	Fans IU, UAENA yang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mengetahui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banyaknya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kemiripan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yang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berjudul</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“Kasih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Dengarkanlah</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Aku”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dengan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IU yang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berjudul</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1" u="none" strike="noStrike" dirty="0">
                <a:solidFill>
                  <a:srgbClr val="000000"/>
                </a:solidFill>
                <a:effectLst/>
                <a:latin typeface="Times New Roman" panose="02020603050405020304" pitchFamily="18" charset="0"/>
                <a:cs typeface="Times New Roman" panose="02020603050405020304" pitchFamily="18" charset="0"/>
              </a:rPr>
              <a:t>Above The Time</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memberikan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kritikan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pedas</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di 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tentang</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plagiat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dan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berharap</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pihak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manajemen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dapat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segera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memproses</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masalah</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tersebut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D" sz="1400" b="0" dirty="0">
              <a:effectLst/>
              <a:latin typeface="Times New Roman" panose="02020603050405020304" pitchFamily="18" charset="0"/>
              <a:cs typeface="Times New Roman" panose="02020603050405020304" pitchFamily="18" charset="0"/>
            </a:endParaRPr>
          </a:p>
          <a:p>
            <a:pPr marL="285750" indent="-285750" rtl="0" fontAlgn="base">
              <a:spcBef>
                <a:spcPts val="0"/>
              </a:spcBef>
              <a:spcAft>
                <a:spcPts val="800"/>
              </a:spcAft>
              <a:buFont typeface="Arial" panose="020B0604020202020204" pitchFamily="34" charset="0"/>
              <a:buChar char="•"/>
            </a:pP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Tercemarnya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nama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baik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Vallen</a:t>
            </a:r>
            <a:endParaRPr lang="en-ID" sz="1400" dirty="0">
              <a:solidFill>
                <a:srgbClr val="000000"/>
              </a:solidFill>
              <a:latin typeface="Times New Roman" panose="02020603050405020304" pitchFamily="18" charset="0"/>
              <a:cs typeface="Times New Roman" panose="02020603050405020304" pitchFamily="18" charset="0"/>
            </a:endParaRPr>
          </a:p>
          <a:p>
            <a:pPr rtl="0" fontAlgn="base">
              <a:spcBef>
                <a:spcPts val="0"/>
              </a:spcBef>
              <a:spcAft>
                <a:spcPts val="800"/>
              </a:spcAft>
            </a:pP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akhirnya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menerima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akibatnya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secara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tidak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langsung</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yaitu</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tercemarnya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nama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baik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dikarenakan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melakukan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plagiarisme</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walaupun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dia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tidak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secara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langsung</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terlibat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dalam</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pemberian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ide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tersebut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D" sz="1400" dirty="0">
              <a:latin typeface="Times New Roman" panose="02020603050405020304" pitchFamily="18" charset="0"/>
              <a:cs typeface="Times New Roman" panose="02020603050405020304" pitchFamily="18" charset="0"/>
            </a:endParaRPr>
          </a:p>
          <a:p>
            <a:pPr marL="285750" indent="-285750" rtl="0" fontAlgn="base">
              <a:spcBef>
                <a:spcPts val="0"/>
              </a:spcBef>
              <a:spcAft>
                <a:spcPts val="800"/>
              </a:spcAft>
              <a:buFont typeface="Arial" panose="020B0604020202020204" pitchFamily="34" charset="0"/>
              <a:buChar char="•"/>
            </a:pPr>
            <a:r>
              <a:rPr lang="en-ID" sz="1400" b="0" i="0" u="none" strike="noStrike" dirty="0">
                <a:solidFill>
                  <a:srgbClr val="000000"/>
                </a:solidFill>
                <a:effectLst/>
                <a:latin typeface="Times New Roman" panose="02020603050405020304" pitchFamily="18" charset="0"/>
                <a:cs typeface="Times New Roman" panose="02020603050405020304" pitchFamily="18" charset="0"/>
              </a:rPr>
              <a:t>Men-</a:t>
            </a:r>
            <a:r>
              <a:rPr lang="en-ID" sz="1400" b="0" i="1" u="none" strike="noStrike" dirty="0">
                <a:solidFill>
                  <a:srgbClr val="000000"/>
                </a:solidFill>
                <a:effectLst/>
                <a:latin typeface="Times New Roman" panose="02020603050405020304" pitchFamily="18" charset="0"/>
                <a:cs typeface="Times New Roman" panose="02020603050405020304" pitchFamily="18" charset="0"/>
              </a:rPr>
              <a:t>take down </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yang lama dan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harus</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mengulang</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pembuatan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yang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baru</a:t>
            </a:r>
            <a:endParaRPr lang="en-ID" sz="1400" dirty="0">
              <a:solidFill>
                <a:srgbClr val="000000"/>
              </a:solidFill>
              <a:latin typeface="Times New Roman" panose="02020603050405020304" pitchFamily="18" charset="0"/>
              <a:cs typeface="Times New Roman" panose="02020603050405020304" pitchFamily="18" charset="0"/>
            </a:endParaRPr>
          </a:p>
          <a:p>
            <a:pPr rtl="0" fontAlgn="base">
              <a:spcBef>
                <a:spcPts val="0"/>
              </a:spcBef>
              <a:spcAft>
                <a:spcPts val="800"/>
              </a:spcAft>
            </a:pP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Dikarenakan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banyaknya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kemiripan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tersebut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Pihak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manajemen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Via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Vallen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Ascada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akhirnya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men-</a:t>
            </a:r>
            <a:r>
              <a:rPr lang="en-ID" sz="1400" b="0" i="1" u="none" strike="noStrike" dirty="0">
                <a:solidFill>
                  <a:srgbClr val="000000"/>
                </a:solidFill>
                <a:effectLst/>
                <a:latin typeface="Times New Roman" panose="02020603050405020304" pitchFamily="18" charset="0"/>
                <a:cs typeface="Times New Roman" panose="02020603050405020304" pitchFamily="18" charset="0"/>
              </a:rPr>
              <a:t>take down </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tersebut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dan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harus</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membuat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lagi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awal</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Hal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ini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dapat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berdampak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dalam</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bagian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ekonomi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dari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pihak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manajemen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dikarenakan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harus</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mengeluarkan</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biaya</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lagi</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untuk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membuat</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video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musik</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ID" sz="1400" b="0" i="0" u="none" strike="noStrike" dirty="0" err="1">
                <a:solidFill>
                  <a:srgbClr val="000000"/>
                </a:solidFill>
                <a:effectLst/>
                <a:latin typeface="Times New Roman" panose="02020603050405020304" pitchFamily="18" charset="0"/>
                <a:cs typeface="Times New Roman" panose="02020603050405020304" pitchFamily="18" charset="0"/>
              </a:rPr>
              <a:t>baru</a:t>
            </a:r>
            <a:r>
              <a:rPr lang="en-ID" sz="1400" b="0" i="0" u="none" strike="noStrike" dirty="0">
                <a:solidFill>
                  <a:srgbClr val="000000"/>
                </a:solidFill>
                <a:effectLst/>
                <a:latin typeface="Times New Roman" panose="02020603050405020304" pitchFamily="18" charset="0"/>
                <a:cs typeface="Times New Roman" panose="02020603050405020304" pitchFamily="18" charset="0"/>
              </a:rPr>
              <a:t>.</a:t>
            </a:r>
            <a:endParaRPr lang="ko-KR" altLang="en-US" sz="1400" dirty="0">
              <a:latin typeface="Times New Roman" panose="02020603050405020304" pitchFamily="18" charset="0"/>
              <a:cs typeface="Times New Roman" panose="02020603050405020304" pitchFamily="18" charset="0"/>
            </a:endParaRPr>
          </a:p>
        </p:txBody>
      </p:sp>
    </p:spTree>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41855" y="1155700"/>
            <a:ext cx="5476240" cy="645160"/>
          </a:xfrm>
          <a:prstGeom prst="rect">
            <a:avLst/>
          </a:prstGeom>
          <a:noFill/>
        </p:spPr>
        <p:txBody>
          <a:bodyPr wrap="square">
            <a:spAutoFit/>
          </a:bodyPr>
          <a:lstStyle/>
          <a:p>
            <a:pPr algn="ctr"/>
            <a:r>
              <a:rPr kumimoji="0" lang="en-US" altLang="ko-KR" sz="1200" b="1" dirty="0" err="1">
                <a:solidFill>
                  <a:schemeClr val="tx1">
                    <a:lumMod val="75000"/>
                    <a:lumOff val="25000"/>
                  </a:schemeClr>
                </a:solidFill>
                <a:latin typeface="Arial" panose="020B0604020202020204" pitchFamily="34" charset="0"/>
                <a:cs typeface="Arial" panose="020B0604020202020204" pitchFamily="34" charset="0"/>
              </a:rPr>
              <a:t>Kasus</a:t>
            </a:r>
            <a:r>
              <a:rPr kumimoji="0" lang="en-US" altLang="ko-KR" sz="1200" b="1" dirty="0">
                <a:solidFill>
                  <a:schemeClr val="tx1">
                    <a:lumMod val="75000"/>
                    <a:lumOff val="25000"/>
                  </a:schemeClr>
                </a:solidFill>
                <a:latin typeface="Arial" panose="020B0604020202020204" pitchFamily="34" charset="0"/>
                <a:cs typeface="Arial" panose="020B0604020202020204" pitchFamily="34" charset="0"/>
              </a:rPr>
              <a:t> P</a:t>
            </a:r>
            <a:r>
              <a:rPr lang="en-US" sz="1200" b="1" dirty="0">
                <a:latin typeface="Arial" panose="020B0604020202020204" pitchFamily="34" charset="0"/>
                <a:cs typeface="Arial" panose="020B0604020202020204" pitchFamily="34" charset="0"/>
                <a:sym typeface="+mn-ea"/>
              </a:rPr>
              <a:t>lagiat Lagu Katy Perry yang berjudul Dark House (2013) dengan </a:t>
            </a:r>
            <a:endParaRPr lang="en-US" sz="1200" b="1" dirty="0">
              <a:latin typeface="Arial" panose="020B0604020202020204" pitchFamily="34" charset="0"/>
              <a:cs typeface="Arial" panose="020B0604020202020204" pitchFamily="34" charset="0"/>
            </a:endParaRPr>
          </a:p>
          <a:p>
            <a:pPr algn="ctr"/>
            <a:r>
              <a:rPr lang="en-US" sz="1200" b="1" dirty="0">
                <a:latin typeface="Arial" panose="020B0604020202020204" pitchFamily="34" charset="0"/>
                <a:cs typeface="Arial" panose="020B0604020202020204" pitchFamily="34" charset="0"/>
                <a:sym typeface="+mn-ea"/>
              </a:rPr>
              <a:t>Lagu Marcus Gray atau Flame yang berjudul Joyful Noise (2009)</a:t>
            </a:r>
            <a:endParaRPr lang="en-US" sz="1200" b="1" dirty="0">
              <a:latin typeface="Arial" panose="020B0604020202020204" pitchFamily="34" charset="0"/>
              <a:cs typeface="Arial" panose="020B0604020202020204" pitchFamily="34" charset="0"/>
            </a:endParaRPr>
          </a:p>
          <a:p>
            <a:pPr algn="r" fontAlgn="auto">
              <a:spcBef>
                <a:spcPts val="0"/>
              </a:spcBef>
              <a:spcAft>
                <a:spcPts val="0"/>
              </a:spcAft>
              <a:defRPr/>
            </a:pPr>
            <a:endParaRPr kumimoji="0" lang="en-US" altLang="ko-KR" sz="12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 name="TextBox 1"/>
          <p:cNvSpPr txBox="1">
            <a:spLocks noChangeArrowheads="1"/>
          </p:cNvSpPr>
          <p:nvPr/>
        </p:nvSpPr>
        <p:spPr bwMode="auto">
          <a:xfrm>
            <a:off x="1961964" y="78659"/>
            <a:ext cx="4860032" cy="1076325"/>
          </a:xfrm>
          <a:prstGeom prst="rect">
            <a:avLst/>
          </a:prstGeom>
          <a:noFill/>
          <a:ln w="9525">
            <a:noFill/>
            <a:miter lim="800000"/>
          </a:ln>
        </p:spPr>
        <p:txBody>
          <a:bodyPr wrap="square">
            <a:spAutoFit/>
          </a:bodyPr>
          <a:lstStyle/>
          <a:p>
            <a:pPr algn="ctr"/>
            <a:r>
              <a:rPr lang="en-US" altLang="ko-KR" sz="3200" b="1" dirty="0" err="1">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Kasus</a:t>
            </a:r>
            <a:r>
              <a:rPr lang="en-US" altLang="ko-KR" sz="3200" b="1" dirty="0">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 Plagiat </a:t>
            </a:r>
            <a:r>
              <a:rPr lang="en-US" altLang="ko-KR" sz="3200" b="1" dirty="0" err="1">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Musik</a:t>
            </a:r>
            <a:endParaRPr lang="en-US" altLang="ko-KR" sz="3200" b="1" dirty="0">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endParaRPr>
          </a:p>
          <a:p>
            <a:pPr algn="ctr"/>
            <a:r>
              <a:rPr lang="en-US" altLang="ko-KR" sz="3200" b="1" dirty="0">
                <a:solidFill>
                  <a:schemeClr val="tx1">
                    <a:lumMod val="75000"/>
                    <a:lumOff val="25000"/>
                  </a:schemeClr>
                </a:solidFill>
                <a:latin typeface="Arial" panose="020B0604020202020204" pitchFamily="34" charset="0"/>
                <a:ea typeface="Malgun Gothic" panose="020B0503020000020004" pitchFamily="50" charset="-127"/>
                <a:cs typeface="Arial" panose="020B0604020202020204" pitchFamily="34" charset="0"/>
              </a:rPr>
              <a:t>Di Luar Negeri</a:t>
            </a:r>
          </a:p>
        </p:txBody>
      </p:sp>
    </p:spTree>
  </p:cSld>
  <p:clrMapOvr>
    <a:masterClrMapping/>
  </p:clrMapOvr>
  <p:transition>
    <p:newsfla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0"/>
          </p:nvPr>
        </p:nvSpPr>
        <p:spPr>
          <a:xfrm>
            <a:off x="323330" y="2716946"/>
            <a:ext cx="8496944" cy="2995737"/>
          </a:xfrm>
        </p:spPr>
        <p:txBody>
          <a:bodyPr/>
          <a:lstStyle/>
          <a:p>
            <a:endParaRPr lang="en-US" altLang="ko-KR" dirty="0">
              <a:latin typeface="Arial" panose="020B0604020202020204" pitchFamily="34" charset="0"/>
              <a:cs typeface="Arial" panose="020B0604020202020204" pitchFamily="34" charset="0"/>
            </a:endParaRPr>
          </a:p>
          <a:p>
            <a:pPr algn="just"/>
            <a:r>
              <a:rPr lang="en-US" altLang="ko-KR" dirty="0">
                <a:latin typeface="Arial" panose="020B0604020202020204" pitchFamily="34" charset="0"/>
                <a:cs typeface="Arial" panose="020B0604020202020204" pitchFamily="34" charset="0"/>
              </a:rPr>
              <a:t>Pada tahun 2019 kemarin, pihak Katy Perry harus mengganti rugi sebesar US$2,7 juta atau setara   dengan Rp.39,5 miliar kepada seorang musisi bernama Marcus Gray alias Flame dikarenakan           terbukti melakukan plagiat lagu. </a:t>
            </a:r>
          </a:p>
          <a:p>
            <a:pPr algn="just"/>
            <a:r>
              <a:rPr lang="en-US" altLang="ko-KR" dirty="0">
                <a:latin typeface="Arial" panose="020B0604020202020204" pitchFamily="34" charset="0"/>
                <a:cs typeface="Arial" panose="020B0604020202020204" pitchFamily="34" charset="0"/>
              </a:rPr>
              <a:t>Hal ini dikarenakan lagu Katy Perry yang berjudul Dark Horse (2013) diduga memiliki kemiripan         dengan lagu Joyful Noise (2009) yang diciptakan oleh Flame. Hal ini membuat Flame menuntut pihak Katy Perry untuk ke pengadilan sejak tahun 2014 lalu. Flame menggugat Katy  Perry  karena            menurutnya lagu ‘Joyful Noise’ yang merupakan lagu pujian ala rap bertolak belakang dengan           nuansa ‘Dark House’ yang cukup ‘gelap’ dan menganggap hal itu mencemarkan keluhuran  musiknya. </a:t>
            </a:r>
          </a:p>
        </p:txBody>
      </p:sp>
      <p:sp>
        <p:nvSpPr>
          <p:cNvPr id="3" name="Title 2"/>
          <p:cNvSpPr>
            <a:spLocks noGrp="1"/>
          </p:cNvSpPr>
          <p:nvPr>
            <p:ph type="title"/>
          </p:nvPr>
        </p:nvSpPr>
        <p:spPr>
          <a:xfrm>
            <a:off x="71755" y="71755"/>
            <a:ext cx="9144000" cy="884466"/>
          </a:xfrm>
        </p:spPr>
        <p:txBody>
          <a:bodyPr/>
          <a:lstStyle/>
          <a:p>
            <a:pPr algn="l"/>
            <a:r>
              <a:rPr lang="en-US" dirty="0"/>
              <a:t>Alur Kasus 2</a:t>
            </a:r>
            <a:endParaRPr lang="en-US" sz="2000" dirty="0"/>
          </a:p>
        </p:txBody>
      </p:sp>
      <p:pic>
        <p:nvPicPr>
          <p:cNvPr id="4" name="Picture 3" descr="katy"/>
          <p:cNvPicPr>
            <a:picLocks noChangeAspect="1"/>
          </p:cNvPicPr>
          <p:nvPr/>
        </p:nvPicPr>
        <p:blipFill>
          <a:blip r:embed="rId2"/>
          <a:srcRect l="16444" r="16244"/>
          <a:stretch>
            <a:fillRect/>
          </a:stretch>
        </p:blipFill>
        <p:spPr>
          <a:xfrm>
            <a:off x="5004435" y="1243965"/>
            <a:ext cx="1758950" cy="1463675"/>
          </a:xfrm>
          <a:prstGeom prst="roundRect">
            <a:avLst/>
          </a:prstGeom>
        </p:spPr>
      </p:pic>
      <p:pic>
        <p:nvPicPr>
          <p:cNvPr id="6" name="Picture 5" descr="flame"/>
          <p:cNvPicPr>
            <a:picLocks noChangeAspect="1"/>
          </p:cNvPicPr>
          <p:nvPr/>
        </p:nvPicPr>
        <p:blipFill>
          <a:blip r:embed="rId3"/>
          <a:stretch>
            <a:fillRect/>
          </a:stretch>
        </p:blipFill>
        <p:spPr>
          <a:xfrm>
            <a:off x="2268220" y="1245235"/>
            <a:ext cx="1794510" cy="1461135"/>
          </a:xfrm>
          <a:prstGeom prst="roundRect">
            <a:avLst/>
          </a:prstGeom>
        </p:spPr>
      </p:pic>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47495" y="339725"/>
            <a:ext cx="9355455" cy="884555"/>
          </a:xfrm>
        </p:spPr>
        <p:txBody>
          <a:bodyPr/>
          <a:lstStyle/>
          <a:p>
            <a:r>
              <a:rPr lang="en-US" dirty="0">
                <a:sym typeface="+mn-ea"/>
              </a:rPr>
              <a:t>Alur Plagiasi Musik di Luar Negeri </a:t>
            </a:r>
            <a:br>
              <a:rPr lang="en-US" dirty="0">
                <a:sym typeface="+mn-ea"/>
              </a:rPr>
            </a:br>
            <a:r>
              <a:rPr lang="en-US" sz="2000" dirty="0">
                <a:sym typeface="+mn-ea"/>
              </a:rPr>
              <a:t>(Lanjutan Kasus 2)</a:t>
            </a:r>
            <a:br>
              <a:rPr lang="en-US" dirty="0"/>
            </a:br>
            <a:endParaRPr lang="ko-KR" altLang="en-US" dirty="0"/>
          </a:p>
        </p:txBody>
      </p:sp>
      <p:sp>
        <p:nvSpPr>
          <p:cNvPr id="5" name="Content Placeholder 4"/>
          <p:cNvSpPr>
            <a:spLocks noGrp="1"/>
          </p:cNvSpPr>
          <p:nvPr>
            <p:ph idx="10"/>
          </p:nvPr>
        </p:nvSpPr>
        <p:spPr>
          <a:xfrm>
            <a:off x="1331595" y="843915"/>
            <a:ext cx="7726680" cy="3929380"/>
          </a:xfrm>
        </p:spPr>
        <p:txBody>
          <a:bodyPr/>
          <a:lstStyle/>
          <a:p>
            <a:pPr algn="just"/>
            <a:endParaRPr lang="ko-KR" altLang="en-US" dirty="0">
              <a:latin typeface="Arial" panose="020B0604020202020204" pitchFamily="34" charset="0"/>
              <a:cs typeface="Arial" panose="020B0604020202020204" pitchFamily="34" charset="0"/>
            </a:endParaRPr>
          </a:p>
          <a:p>
            <a:pPr algn="just"/>
            <a:r>
              <a:rPr lang="ko-KR" altLang="en-US" dirty="0">
                <a:latin typeface="Arial" panose="020B0604020202020204" pitchFamily="34" charset="0"/>
                <a:cs typeface="Arial" panose="020B0604020202020204" pitchFamily="34" charset="0"/>
              </a:rPr>
              <a:t>Pada akhirnya kedua belah pihak</a:t>
            </a:r>
            <a:r>
              <a:rPr lang="en-US" altLang="ko-KR" dirty="0">
                <a:latin typeface="Arial" panose="020B0604020202020204" pitchFamily="34" charset="0"/>
                <a:cs typeface="Arial" panose="020B0604020202020204" pitchFamily="34" charset="0"/>
              </a:rPr>
              <a:t> pun</a:t>
            </a:r>
            <a:r>
              <a:rPr lang="ko-KR" altLang="en-US" dirty="0">
                <a:latin typeface="Arial" panose="020B0604020202020204" pitchFamily="34" charset="0"/>
                <a:cs typeface="Arial" panose="020B0604020202020204" pitchFamily="34" charset="0"/>
              </a:rPr>
              <a:t> bersedia melakukan persidangan yang </a:t>
            </a:r>
            <a:r>
              <a:rPr lang="en-US" altLang="ko-KR" dirty="0">
                <a:latin typeface="Arial" panose="020B0604020202020204" pitchFamily="34" charset="0"/>
                <a:cs typeface="Arial" panose="020B0604020202020204" pitchFamily="34" charset="0"/>
              </a:rPr>
              <a:t>dilakukan</a:t>
            </a:r>
            <a:r>
              <a:rPr lang="ko-KR" altLang="en-US" dirty="0">
                <a:latin typeface="Arial" panose="020B0604020202020204" pitchFamily="34" charset="0"/>
                <a:cs typeface="Arial" panose="020B0604020202020204" pitchFamily="34" charset="0"/>
              </a:rPr>
              <a:t> </a:t>
            </a:r>
            <a:r>
              <a:rPr lang="en-US" altLang="ko-KR" dirty="0">
                <a:latin typeface="Arial" panose="020B0604020202020204" pitchFamily="34" charset="0"/>
                <a:cs typeface="Arial" panose="020B0604020202020204" pitchFamily="34" charset="0"/>
              </a:rPr>
              <a:t>     </a:t>
            </a:r>
            <a:r>
              <a:rPr lang="ko-KR" altLang="en-US" dirty="0">
                <a:latin typeface="Arial" panose="020B0604020202020204" pitchFamily="34" charset="0"/>
                <a:cs typeface="Arial" panose="020B0604020202020204" pitchFamily="34" charset="0"/>
              </a:rPr>
              <a:t>selama dua minggu </a:t>
            </a:r>
            <a:r>
              <a:rPr lang="en-US" altLang="ko-KR" dirty="0">
                <a:latin typeface="Arial" panose="020B0604020202020204" pitchFamily="34" charset="0"/>
                <a:cs typeface="Arial" panose="020B0604020202020204" pitchFamily="34" charset="0"/>
              </a:rPr>
              <a:t>berlangsung dalam</a:t>
            </a:r>
            <a:r>
              <a:rPr lang="ko-KR" altLang="en-US" dirty="0">
                <a:latin typeface="Arial" panose="020B0604020202020204" pitchFamily="34" charset="0"/>
                <a:cs typeface="Arial" panose="020B0604020202020204" pitchFamily="34" charset="0"/>
              </a:rPr>
              <a:t> dua fase yaitu musik dan uang. </a:t>
            </a:r>
          </a:p>
          <a:p>
            <a:pPr algn="just"/>
            <a:r>
              <a:rPr lang="en-US" altLang="ko-KR" dirty="0">
                <a:latin typeface="Arial" panose="020B0604020202020204" pitchFamily="34" charset="0"/>
                <a:cs typeface="Arial" panose="020B0604020202020204" pitchFamily="34" charset="0"/>
              </a:rPr>
              <a:t>Dalam persidangan tersebut terdapat beberapa fakta dan hasilnya :</a:t>
            </a:r>
          </a:p>
          <a:p>
            <a:pPr marL="342900" indent="-342900" algn="just">
              <a:buFont typeface="Wingdings" panose="05000000000000000000" charset="0"/>
              <a:buChar char="Ø"/>
            </a:pPr>
            <a:r>
              <a:rPr lang="en-US" altLang="ko-KR" dirty="0">
                <a:latin typeface="Arial" panose="020B0604020202020204" pitchFamily="34" charset="0"/>
                <a:cs typeface="Arial" panose="020B0604020202020204" pitchFamily="34" charset="0"/>
              </a:rPr>
              <a:t>Katy Perry dan pihaknya sama sekali tidak pernah mengetahui siapa itu marcus gray   atau flame ataupun lagu yang berjudul ‘Dark House’ sampai ia akhirnya digugat oleh     flame.</a:t>
            </a:r>
          </a:p>
          <a:p>
            <a:pPr marL="342900" indent="-342900" algn="just">
              <a:buFont typeface="Wingdings" panose="05000000000000000000" charset="0"/>
              <a:buChar char="Ø"/>
            </a:pPr>
            <a:r>
              <a:rPr lang="en-US" altLang="ko-KR" dirty="0">
                <a:latin typeface="Arial" panose="020B0604020202020204" pitchFamily="34" charset="0"/>
                <a:cs typeface="Arial" panose="020B0604020202020204" pitchFamily="34" charset="0"/>
              </a:rPr>
              <a:t>Juri menetapkan bahwa hampir sebagian musik</a:t>
            </a:r>
            <a:r>
              <a:rPr lang="ko-KR" altLang="en-US" dirty="0">
                <a:latin typeface="Arial" panose="020B0604020202020204" pitchFamily="34" charset="0"/>
                <a:cs typeface="Arial" panose="020B0604020202020204" pitchFamily="34" charset="0"/>
                <a:sym typeface="+mn-ea"/>
              </a:rPr>
              <a:t> yang dimainkan sebagai latar lagu </a:t>
            </a:r>
            <a:r>
              <a:rPr lang="en-US" altLang="ko-KR" dirty="0">
                <a:latin typeface="Arial" panose="020B0604020202020204" pitchFamily="34" charset="0"/>
                <a:cs typeface="Arial" panose="020B0604020202020204" pitchFamily="34" charset="0"/>
                <a:sym typeface="+mn-ea"/>
              </a:rPr>
              <a:t>    </a:t>
            </a:r>
            <a:r>
              <a:rPr lang="ko-KR" altLang="en-US" dirty="0">
                <a:latin typeface="Arial" panose="020B0604020202020204" pitchFamily="34" charset="0"/>
                <a:cs typeface="Arial" panose="020B0604020202020204" pitchFamily="34" charset="0"/>
                <a:sym typeface="+mn-ea"/>
              </a:rPr>
              <a:t>‘Dark House’ terdengar hampir semua sama di bagian lagu ‘Joyful Noise’.</a:t>
            </a:r>
          </a:p>
          <a:p>
            <a:pPr marL="342900" indent="-342900" algn="just">
              <a:buFont typeface="Wingdings" panose="05000000000000000000" charset="0"/>
              <a:buChar char="Ø"/>
            </a:pPr>
            <a:r>
              <a:rPr lang="en-US" altLang="ko-KR" dirty="0">
                <a:latin typeface="Arial" panose="020B0604020202020204" pitchFamily="34" charset="0"/>
                <a:cs typeface="Arial" panose="020B0604020202020204" pitchFamily="34" charset="0"/>
              </a:rPr>
              <a:t>Kuasa hukum menetapkan Flame berhak mendapatkan </a:t>
            </a:r>
            <a:r>
              <a:rPr lang="ko-KR" altLang="en-US" dirty="0">
                <a:latin typeface="Arial" panose="020B0604020202020204" pitchFamily="34" charset="0"/>
                <a:cs typeface="Arial" panose="020B0604020202020204" pitchFamily="34" charset="0"/>
                <a:sym typeface="+mn-ea"/>
              </a:rPr>
              <a:t>45 persen dari pendapatan </a:t>
            </a:r>
            <a:r>
              <a:rPr lang="en-US" altLang="ko-KR" dirty="0">
                <a:latin typeface="Arial" panose="020B0604020202020204" pitchFamily="34" charset="0"/>
                <a:cs typeface="Arial" panose="020B0604020202020204" pitchFamily="34" charset="0"/>
                <a:sym typeface="+mn-ea"/>
              </a:rPr>
              <a:t>     </a:t>
            </a:r>
            <a:r>
              <a:rPr lang="ko-KR" altLang="en-US" dirty="0">
                <a:latin typeface="Arial" panose="020B0604020202020204" pitchFamily="34" charset="0"/>
                <a:cs typeface="Arial" panose="020B0604020202020204" pitchFamily="34" charset="0"/>
                <a:sym typeface="+mn-ea"/>
              </a:rPr>
              <a:t>lagu ‘Dark House’ karena nada yang relevan dengan gugatan mencakup 45 persen</a:t>
            </a:r>
            <a:r>
              <a:rPr lang="en-US" altLang="ko-KR" dirty="0">
                <a:latin typeface="Arial" panose="020B0604020202020204" pitchFamily="34" charset="0"/>
                <a:cs typeface="Arial" panose="020B0604020202020204" pitchFamily="34" charset="0"/>
                <a:sym typeface="+mn-ea"/>
              </a:rPr>
              <a:t>    </a:t>
            </a:r>
            <a:r>
              <a:rPr lang="ko-KR" altLang="en-US" dirty="0">
                <a:latin typeface="Arial" panose="020B0604020202020204" pitchFamily="34" charset="0"/>
                <a:cs typeface="Arial" panose="020B0604020202020204" pitchFamily="34" charset="0"/>
                <a:sym typeface="+mn-ea"/>
              </a:rPr>
              <a:t> dari lagu tersebut</a:t>
            </a:r>
            <a:r>
              <a:rPr lang="en-US" altLang="ko-KR" dirty="0">
                <a:latin typeface="Arial" panose="020B0604020202020204" pitchFamily="34" charset="0"/>
                <a:cs typeface="Arial" panose="020B0604020202020204" pitchFamily="34" charset="0"/>
                <a:sym typeface="+mn-ea"/>
              </a:rPr>
              <a:t> sehingga </a:t>
            </a:r>
            <a:r>
              <a:rPr lang="ko-KR" altLang="en-US" dirty="0">
                <a:latin typeface="Arial" panose="020B0604020202020204" pitchFamily="34" charset="0"/>
                <a:cs typeface="Arial" panose="020B0604020202020204" pitchFamily="34" charset="0"/>
                <a:sym typeface="+mn-ea"/>
              </a:rPr>
              <a:t>Flame berhak mendapatkan US$20 juta atau Rp284 miliar dari total pendapatan ‘Dark House’ yang mencapai US$41 juta atau Rp583 miliar.</a:t>
            </a:r>
            <a:r>
              <a:rPr lang="en-US" altLang="ko-KR" dirty="0">
                <a:latin typeface="Arial" panose="020B0604020202020204" pitchFamily="34" charset="0"/>
                <a:cs typeface="Arial" panose="020B0604020202020204" pitchFamily="34" charset="0"/>
                <a:sym typeface="+mn-ea"/>
              </a:rPr>
              <a:t> Ini  membuat jumlah yang harus diganti oleh pihak Katy Perry melebihi tuntutan yang         diberikan oleh Flame.</a:t>
            </a:r>
            <a:endParaRPr lang="ko-KR" altLang="en-US" dirty="0">
              <a:latin typeface="Arial" panose="020B0604020202020204" pitchFamily="34" charset="0"/>
              <a:cs typeface="Arial" panose="020B0604020202020204" pitchFamily="34" charset="0"/>
              <a:sym typeface="+mn-ea"/>
            </a:endParaRPr>
          </a:p>
          <a:p>
            <a:pPr marL="342900" indent="-342900" algn="just">
              <a:buFont typeface="Wingdings" panose="05000000000000000000" charset="0"/>
              <a:buChar char="Ø"/>
            </a:pPr>
            <a:r>
              <a:rPr lang="en-US" altLang="ko-KR" dirty="0">
                <a:latin typeface="Arial" panose="020B0604020202020204" pitchFamily="34" charset="0"/>
                <a:cs typeface="Arial" panose="020B0604020202020204" pitchFamily="34" charset="0"/>
                <a:sym typeface="+mn-ea"/>
              </a:rPr>
              <a:t>Pihak Katy Perry seperti penulis lirik lagu dan instrumen lagu mendapatkan sanksi atau pinalti yang berbeda”.</a:t>
            </a:r>
            <a:endParaRPr lang="en-US" altLang="ko-KR" dirty="0">
              <a:latin typeface="Arial" panose="020B0604020202020204" pitchFamily="34" charset="0"/>
              <a:cs typeface="Arial" panose="020B0604020202020204" pitchFamily="34" charset="0"/>
            </a:endParaRP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19672" y="123478"/>
            <a:ext cx="7524328" cy="760988"/>
          </a:xfrm>
        </p:spPr>
        <p:txBody>
          <a:bodyPr/>
          <a:lstStyle/>
          <a:p>
            <a:r>
              <a:rPr lang="en-US" altLang="ko-KR" err="1"/>
              <a:t>Dampak</a:t>
            </a:r>
            <a:r>
              <a:rPr lang="en-US" altLang="ko-KR"/>
              <a:t> </a:t>
            </a:r>
            <a:r>
              <a:rPr lang="en-US" altLang="ko-KR" err="1"/>
              <a:t>Plagiasi</a:t>
            </a:r>
            <a:r>
              <a:rPr lang="en-US" altLang="ko-KR"/>
              <a:t> (</a:t>
            </a:r>
            <a:r>
              <a:rPr lang="en-US" altLang="ko-KR" err="1"/>
              <a:t>kasus</a:t>
            </a:r>
            <a:r>
              <a:rPr lang="en-US" altLang="ko-KR"/>
              <a:t> 2)</a:t>
            </a:r>
            <a:endParaRPr lang="ko-KR" altLang="en-US"/>
          </a:p>
        </p:txBody>
      </p:sp>
      <p:sp>
        <p:nvSpPr>
          <p:cNvPr id="2" name="Content Placeholder 1"/>
          <p:cNvSpPr>
            <a:spLocks noGrp="1"/>
          </p:cNvSpPr>
          <p:nvPr>
            <p:ph idx="1"/>
          </p:nvPr>
        </p:nvSpPr>
        <p:spPr>
          <a:xfrm>
            <a:off x="1691680" y="1851670"/>
            <a:ext cx="6912768" cy="460648"/>
          </a:xfrm>
        </p:spPr>
        <p:txBody>
          <a:bodyPr/>
          <a:lstStyle/>
          <a:p>
            <a:pPr marL="342900" indent="-342900">
              <a:buFont typeface="Wingdings" panose="05000000000000000000" pitchFamily="2" charset="2"/>
              <a:buChar char="§"/>
            </a:pPr>
            <a:r>
              <a:rPr lang="en-US"/>
              <a:t>Membayar ganti rugi</a:t>
            </a:r>
          </a:p>
          <a:p>
            <a:pPr marL="342900" indent="-342900">
              <a:buFont typeface="Wingdings" panose="05000000000000000000" pitchFamily="2" charset="2"/>
              <a:buChar char="§"/>
            </a:pPr>
            <a:r>
              <a:rPr lang="en-US"/>
              <a:t>Nama baik Katy Perry dan tim tercoreng oleh dugaan kasus plagiat</a:t>
            </a:r>
          </a:p>
          <a:p>
            <a:pPr marL="342900" indent="-342900">
              <a:buFont typeface="Wingdings" panose="05000000000000000000" pitchFamily="2" charset="2"/>
              <a:buChar char="§"/>
            </a:pPr>
            <a:r>
              <a:rPr lang="en-US"/>
              <a:t>Pendapatan berkurang</a:t>
            </a:r>
          </a:p>
        </p:txBody>
      </p:sp>
    </p:spTree>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title"/>
          </p:nvPr>
        </p:nvSpPr>
        <p:spPr>
          <a:xfrm>
            <a:off x="1548130" y="1251585"/>
            <a:ext cx="5474970" cy="128333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ATURAN DAN SANKSI</a:t>
            </a:r>
            <a:br>
              <a:rPr lang="en-US"/>
            </a:br>
            <a:r>
              <a:rPr lang="en-US"/>
              <a:t>PLAGIARISME</a:t>
            </a:r>
          </a:p>
        </p:txBody>
      </p:sp>
      <p:sp>
        <p:nvSpPr>
          <p:cNvPr id="95" name="Google Shape;95;p1"/>
          <p:cNvSpPr txBox="1">
            <a:spLocks noGrp="1"/>
          </p:cNvSpPr>
          <p:nvPr>
            <p:ph type="body" idx="1"/>
          </p:nvPr>
        </p:nvSpPr>
        <p:spPr>
          <a:xfrm>
            <a:off x="1549400" y="2228850"/>
            <a:ext cx="7215505" cy="1727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1800"/>
              <a:buNone/>
            </a:pPr>
            <a:r>
              <a:rPr lang="en-US" sz="1800"/>
              <a:t>Diatur dalam</a:t>
            </a:r>
            <a:endParaRPr sz="1800"/>
          </a:p>
          <a:p>
            <a:pPr marL="0" lvl="0" indent="0" algn="l" rtl="0">
              <a:spcBef>
                <a:spcPts val="480"/>
              </a:spcBef>
              <a:spcAft>
                <a:spcPts val="0"/>
              </a:spcAft>
              <a:buClr>
                <a:srgbClr val="3F3F3F"/>
              </a:buClr>
              <a:buSzPts val="2400"/>
              <a:buNone/>
            </a:pPr>
            <a:r>
              <a:rPr lang="en-US" sz="2400" b="1"/>
              <a:t>UU RI Nomor 11 2008 Tentang Informasi dan</a:t>
            </a:r>
            <a:endParaRPr sz="2400" b="1"/>
          </a:p>
          <a:p>
            <a:pPr marL="0" lvl="0" indent="0" algn="l" rtl="0">
              <a:spcBef>
                <a:spcPts val="480"/>
              </a:spcBef>
              <a:spcAft>
                <a:spcPts val="0"/>
              </a:spcAft>
              <a:buClr>
                <a:srgbClr val="3F3F3F"/>
              </a:buClr>
              <a:buSzPts val="2400"/>
              <a:buNone/>
            </a:pPr>
            <a:r>
              <a:rPr lang="en-US" sz="2400" b="1"/>
              <a:t>Transaksi Elektronik </a:t>
            </a:r>
            <a:endParaRPr sz="2400" b="1"/>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body" idx="2"/>
          </p:nvPr>
        </p:nvSpPr>
        <p:spPr>
          <a:xfrm>
            <a:off x="477520" y="1377950"/>
            <a:ext cx="820928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Setiap Orang dengan sengaja dan tanpa hak mendistribusikan dan/atau mentransmisikan dan</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/atau membuat dapat diaksesnya Informasi Elektronik dan/atau Dokumen Elektronik yang           memiliki muatan yang melanggar kesusilaan.</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(2) Setiap Orang dengan sengaja dan tanpa hak mendistribusikan dan/atau mentransmisikan dan/atau membuat dapat diaksesnya Informasi Elektronik dan/atau Dokumen Elektronik yang           memiliki muatan perjudian.</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(3) Setiap Orang dengan sengaja dan tanpa hak mendistribusikan dan/atau mentransmisikan dan/atau membuat dapat diaksesnya Informasi Elektronik dan/atau Dokumen Elektronik yang           memiliki muatan penghinaan dan/atau pencemaran nama baik.</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(4) Setiap Orang dengan sengaja dan tanpa hak mendistribusikan dan/atau mentransmisikan dan/atau membuat dapat diaksesnya Informasi Elektronik dan/atau Dokumen Elektronik yang           memiliki muatan pemerasan dan/atau pengancaman.</a:t>
            </a:r>
            <a:endParaRPr sz="1400">
              <a:latin typeface="Arial" panose="020B0604020202020204"/>
              <a:ea typeface="Arial" panose="020B0604020202020204"/>
              <a:cs typeface="Arial" panose="020B0604020202020204"/>
              <a:sym typeface="Arial" panose="020B0604020202020204"/>
            </a:endParaRPr>
          </a:p>
        </p:txBody>
      </p:sp>
      <p:sp>
        <p:nvSpPr>
          <p:cNvPr id="107" name="Google Shape;107;p3"/>
          <p:cNvSpPr txBox="1">
            <a:spLocks noGrp="1"/>
          </p:cNvSpPr>
          <p:nvPr>
            <p:ph type="title"/>
          </p:nvPr>
        </p:nvSpPr>
        <p:spPr>
          <a:xfrm>
            <a:off x="358775" y="358775"/>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27</a:t>
            </a:r>
            <a:br>
              <a:rPr lang="en-US"/>
            </a:br>
            <a:r>
              <a:rPr lang="en-US" sz="1400"/>
              <a:t>UU RI Nomor 11 Tahun 2008</a:t>
            </a:r>
            <a:br>
              <a:rPr lang="en-US" sz="1400"/>
            </a:br>
            <a:r>
              <a:rPr lang="en-US" sz="1400"/>
              <a:t>Tentang Informasi dan Transaksi Elektronik</a:t>
            </a:r>
            <a:endParaRPr sz="1400"/>
          </a:p>
        </p:txBody>
      </p:sp>
    </p:spTree>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9"/>
          <p:cNvSpPr txBox="1">
            <a:spLocks noGrp="1"/>
          </p:cNvSpPr>
          <p:nvPr>
            <p:ph type="body" idx="2"/>
          </p:nvPr>
        </p:nvSpPr>
        <p:spPr>
          <a:xfrm>
            <a:off x="477520" y="1377950"/>
            <a:ext cx="820928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Setiap Orang dengan sengaja dan tanpa hak atau melawan hukum dengan cara apa pun      mengubah, menambah, mengurangi, melakukan transmisi, merusak, menghilangkan,                  memindahkan, menyembunyikan suatu Informasi Elektronik dan/atau Dokumen Elektronik milik  Orang lain atau milik publik. </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(2) Setiap Orang dengan sengaja dan tanpa hak atau melawan hukum dengan cara apa pun      memindahkan atau mentransfer Informasi Elektronik dan/atau Dokumen Elektronik kepada          Sistem Elektronik Orang lain yang tidak berhak.</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(3) Terhadap perbuatan sebagaimana dimaksud pada ayat (1) yang mengakibatkan terbukanya   suatu Informasi Elektronik dan/atau Dokumen Elektronik yang bersifat rahasia menjadi dapat       diakses oleh publik dengan keutuhan data yang tidak sebagaimana mestinya.</a:t>
            </a:r>
            <a:endParaRPr sz="1400">
              <a:latin typeface="Arial" panose="020B0604020202020204"/>
              <a:ea typeface="Arial" panose="020B0604020202020204"/>
              <a:cs typeface="Arial" panose="020B0604020202020204"/>
              <a:sym typeface="Arial" panose="020B0604020202020204"/>
            </a:endParaRPr>
          </a:p>
        </p:txBody>
      </p:sp>
      <p:sp>
        <p:nvSpPr>
          <p:cNvPr id="143" name="Google Shape;143;p9"/>
          <p:cNvSpPr txBox="1">
            <a:spLocks noGrp="1"/>
          </p:cNvSpPr>
          <p:nvPr>
            <p:ph type="title"/>
          </p:nvPr>
        </p:nvSpPr>
        <p:spPr>
          <a:xfrm>
            <a:off x="358775" y="358775"/>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32</a:t>
            </a:r>
            <a:br>
              <a:rPr lang="en-US"/>
            </a:br>
            <a:r>
              <a:rPr lang="en-US" sz="1400"/>
              <a:t>UU RI Nomor 11 Tahun 2008</a:t>
            </a:r>
            <a:br>
              <a:rPr lang="en-US" sz="1400"/>
            </a:br>
            <a:r>
              <a:rPr lang="en-US" sz="1400"/>
              <a:t>Tentang Informasi dan Transaksi Elektronik</a:t>
            </a:r>
            <a:endParaRPr sz="1400"/>
          </a:p>
        </p:txBody>
      </p:sp>
    </p:spTree>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body" idx="2"/>
          </p:nvPr>
        </p:nvSpPr>
        <p:spPr>
          <a:xfrm>
            <a:off x="477520" y="1377950"/>
            <a:ext cx="820928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Setiap Orang dengan sengaja dan tanpa hak atau melawan hukum memproduksi, menjual,   mengadakan untuk digunakan, mengimpor, mendistribusikan, menyediakan, atau memiliki:</a:t>
            </a:r>
            <a:endParaRPr sz="1400">
              <a:latin typeface="Arial" panose="020B0604020202020204"/>
              <a:ea typeface="Arial" panose="020B0604020202020204"/>
              <a:cs typeface="Arial" panose="020B0604020202020204"/>
              <a:sym typeface="Arial" panose="020B0604020202020204"/>
            </a:endParaRPr>
          </a:p>
          <a:p>
            <a:pPr marL="607060"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Perangkat keras atau perangkat lunak Komputer yang dirancang atau secara khusus       dikembangkan untuk memfasilitasi perbuatan sebagaimana dimaksud dalam Pasal 27      sampai dengan Pasal 33;</a:t>
            </a:r>
            <a:endParaRPr sz="1400">
              <a:latin typeface="Arial" panose="020B0604020202020204"/>
              <a:ea typeface="Arial" panose="020B0604020202020204"/>
              <a:cs typeface="Arial" panose="020B0604020202020204"/>
              <a:sym typeface="Arial" panose="020B0604020202020204"/>
            </a:endParaRPr>
          </a:p>
          <a:p>
            <a:pPr marL="607060"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Sandi lewat Komputer, Kode Akses, atau hal yang sejenis dengan itu yang ditujukan agar Sistem Elektronik menjadi dapat diakses dengan tujuan memfasilitasi perbuatan sebagaimana dimaksud dalam Pasal 27 sampai dengan Pasal 33.</a:t>
            </a:r>
            <a:endParaRPr sz="1400">
              <a:latin typeface="Arial" panose="020B0604020202020204"/>
              <a:ea typeface="Arial" panose="020B0604020202020204"/>
              <a:cs typeface="Arial" panose="020B0604020202020204"/>
              <a:sym typeface="Arial" panose="020B0604020202020204"/>
            </a:endParaRPr>
          </a:p>
          <a:p>
            <a:pPr marL="342900" lvl="0" indent="-34290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342900" lvl="0" indent="-34290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(2) Tindakan sebagaimana dimaksud pada ayat (1) bukan tindak pidana jika ditujukan untuk</a:t>
            </a:r>
            <a:endParaRPr sz="1400">
              <a:latin typeface="Arial" panose="020B0604020202020204"/>
              <a:ea typeface="Arial" panose="020B0604020202020204"/>
              <a:cs typeface="Arial" panose="020B0604020202020204"/>
              <a:sym typeface="Arial" panose="020B0604020202020204"/>
            </a:endParaRPr>
          </a:p>
          <a:p>
            <a:pPr marL="274955" lvl="0" indent="-274955"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	melakukan kegiatan penelitian, pengujian Sistem Elektronik, untuk perlindungan Sistem</a:t>
            </a:r>
            <a:endParaRPr sz="1400">
              <a:latin typeface="Arial" panose="020B0604020202020204"/>
              <a:ea typeface="Arial" panose="020B0604020202020204"/>
              <a:cs typeface="Arial" panose="020B0604020202020204"/>
              <a:sym typeface="Arial" panose="020B0604020202020204"/>
            </a:endParaRPr>
          </a:p>
          <a:p>
            <a:pPr marL="274955" lvl="0" indent="-274955"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	Elektronik itu sendiri secara sah dan tidak melawan hukum.</a:t>
            </a:r>
            <a:endParaRPr sz="1400">
              <a:latin typeface="Arial" panose="020B0604020202020204"/>
              <a:ea typeface="Arial" panose="020B0604020202020204"/>
              <a:cs typeface="Arial" panose="020B0604020202020204"/>
              <a:sym typeface="Arial" panose="020B0604020202020204"/>
            </a:endParaRPr>
          </a:p>
        </p:txBody>
      </p:sp>
      <p:sp>
        <p:nvSpPr>
          <p:cNvPr id="101" name="Google Shape;101;p2"/>
          <p:cNvSpPr txBox="1">
            <a:spLocks noGrp="1"/>
          </p:cNvSpPr>
          <p:nvPr>
            <p:ph type="title"/>
          </p:nvPr>
        </p:nvSpPr>
        <p:spPr>
          <a:xfrm>
            <a:off x="358775" y="358775"/>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34</a:t>
            </a:r>
            <a:br>
              <a:rPr lang="en-US"/>
            </a:br>
            <a:r>
              <a:rPr lang="en-US" sz="1400"/>
              <a:t>UU RI Nomor 11 Tahun 2008</a:t>
            </a:r>
            <a:br>
              <a:rPr lang="en-US" sz="1400"/>
            </a:br>
            <a:r>
              <a:rPr lang="en-US" sz="1400"/>
              <a:t>Tentang Informasi dan Transaksi Elektronik</a:t>
            </a:r>
            <a:endParaRPr sz="1400"/>
          </a:p>
        </p:txBody>
      </p:sp>
    </p:spTree>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a:spLocks noGrp="1"/>
          </p:cNvSpPr>
          <p:nvPr>
            <p:ph type="body" idx="2"/>
          </p:nvPr>
        </p:nvSpPr>
        <p:spPr>
          <a:xfrm>
            <a:off x="477520" y="1377950"/>
            <a:ext cx="820928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Setiap Orang yang memenuhi unsur sebagaimana dimaksud dalam Pasal 34 ayat (1) dipidana    dengan pidana penjara paling lama 10 (sepuluh) tahun dan/atau denda paling banyak                  Rp10.000.000.000,00 (sepuluh miliar rupiah).</a:t>
            </a:r>
            <a:endParaRPr sz="1400">
              <a:latin typeface="Arial" panose="020B0604020202020204"/>
              <a:ea typeface="Arial" panose="020B0604020202020204"/>
              <a:cs typeface="Arial" panose="020B0604020202020204"/>
              <a:sym typeface="Arial" panose="020B0604020202020204"/>
            </a:endParaRPr>
          </a:p>
        </p:txBody>
      </p:sp>
      <p:sp>
        <p:nvSpPr>
          <p:cNvPr id="155" name="Google Shape;155;p11"/>
          <p:cNvSpPr txBox="1">
            <a:spLocks noGrp="1"/>
          </p:cNvSpPr>
          <p:nvPr>
            <p:ph type="title"/>
          </p:nvPr>
        </p:nvSpPr>
        <p:spPr>
          <a:xfrm>
            <a:off x="358775" y="358775"/>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50</a:t>
            </a:r>
            <a:br>
              <a:rPr lang="en-US"/>
            </a:br>
            <a:r>
              <a:rPr lang="en-US" sz="1400"/>
              <a:t>UU RI Nomor 11 Tahun 2008</a:t>
            </a:r>
            <a:br>
              <a:rPr lang="en-US" sz="1400"/>
            </a:br>
            <a:r>
              <a:rPr lang="en-US" sz="1400"/>
              <a:t>Tentang Informasi dan Transaksi Elektronik</a:t>
            </a:r>
            <a:endParaRPr sz="1400"/>
          </a:p>
        </p:txBody>
      </p:sp>
    </p:spTree>
  </p:cSld>
  <p:clrMapOvr>
    <a:masterClrMapping/>
  </p:clrMapOvr>
  <p:transition>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2"/>
          <p:cNvSpPr txBox="1">
            <a:spLocks noGrp="1"/>
          </p:cNvSpPr>
          <p:nvPr>
            <p:ph type="title"/>
          </p:nvPr>
        </p:nvSpPr>
        <p:spPr>
          <a:xfrm>
            <a:off x="1548130" y="1466850"/>
            <a:ext cx="5474970" cy="128333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ATURAN DAN SANKSI</a:t>
            </a:r>
            <a:br>
              <a:rPr lang="en-US"/>
            </a:br>
            <a:r>
              <a:rPr lang="en-US"/>
              <a:t>PLAGIARISME MUSIK</a:t>
            </a:r>
          </a:p>
        </p:txBody>
      </p:sp>
      <p:sp>
        <p:nvSpPr>
          <p:cNvPr id="161" name="Google Shape;161;p12"/>
          <p:cNvSpPr txBox="1">
            <a:spLocks noGrp="1"/>
          </p:cNvSpPr>
          <p:nvPr>
            <p:ph type="body" idx="1"/>
          </p:nvPr>
        </p:nvSpPr>
        <p:spPr>
          <a:xfrm>
            <a:off x="1549400" y="2494280"/>
            <a:ext cx="7215505" cy="118046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1800"/>
              <a:buNone/>
            </a:pPr>
            <a:r>
              <a:rPr lang="en-US" sz="1800"/>
              <a:t>Diatur dalam</a:t>
            </a:r>
            <a:endParaRPr sz="1800"/>
          </a:p>
          <a:p>
            <a:pPr marL="0" lvl="0" indent="0" algn="l" rtl="0">
              <a:spcBef>
                <a:spcPts val="480"/>
              </a:spcBef>
              <a:spcAft>
                <a:spcPts val="0"/>
              </a:spcAft>
              <a:buClr>
                <a:srgbClr val="3F3F3F"/>
              </a:buClr>
              <a:buSzPts val="2400"/>
              <a:buNone/>
            </a:pPr>
            <a:r>
              <a:rPr lang="en-US" sz="2400" b="1"/>
              <a:t>UU RI Nomor 28 Tahun 2014 Tentang Hak Cipta</a:t>
            </a:r>
            <a:endParaRPr sz="2400" b="1"/>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3"/>
          <p:cNvSpPr txBox="1">
            <a:spLocks noGrp="1"/>
          </p:cNvSpPr>
          <p:nvPr>
            <p:ph type="body" idx="2"/>
          </p:nvPr>
        </p:nvSpPr>
        <p:spPr>
          <a:xfrm>
            <a:off x="477520" y="1377950"/>
            <a:ext cx="820928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Pencipta atau Pemegang Hak Cipta sebagaimana dimaksud dalam Pasal 8 memiliki ekonomi </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untuk melakukan:</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a. penerbitan Ciptaan;</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b. Penggandaan Ciptaan dalam segala bentuknya;</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c. penerjemahan Ciptaan;</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d. pengadaplasian, pengaransemenan, pentransformasian Ciptaan;</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e. Pendistribusian Ciptaan atau salinannya;</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f. pertunjukanCiptaan;</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g. Pengumuman Ciptaan;</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h. Komunikasi Ciptaan; dan</a:t>
            </a:r>
            <a:endParaRPr sz="1400">
              <a:latin typeface="Arial" panose="020B0604020202020204"/>
              <a:ea typeface="Arial" panose="020B0604020202020204"/>
              <a:cs typeface="Arial" panose="020B0604020202020204"/>
              <a:sym typeface="Arial" panose="020B0604020202020204"/>
            </a:endParaRPr>
          </a:p>
          <a:p>
            <a:pPr marL="285115"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i. penyewaan Ciptaan.</a:t>
            </a:r>
            <a:endParaRPr sz="1400" b="1">
              <a:latin typeface="Arial" panose="020B0604020202020204"/>
              <a:ea typeface="Arial" panose="020B0604020202020204"/>
              <a:cs typeface="Arial" panose="020B0604020202020204"/>
              <a:sym typeface="Arial" panose="020B0604020202020204"/>
            </a:endParaRPr>
          </a:p>
        </p:txBody>
      </p:sp>
      <p:sp>
        <p:nvSpPr>
          <p:cNvPr id="167" name="Google Shape;167;p13"/>
          <p:cNvSpPr txBox="1">
            <a:spLocks noGrp="1"/>
          </p:cNvSpPr>
          <p:nvPr>
            <p:ph type="title"/>
          </p:nvPr>
        </p:nvSpPr>
        <p:spPr>
          <a:xfrm>
            <a:off x="358775" y="358775"/>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9</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4"/>
          <p:cNvSpPr txBox="1">
            <a:spLocks noGrp="1"/>
          </p:cNvSpPr>
          <p:nvPr>
            <p:ph type="body" idx="2"/>
          </p:nvPr>
        </p:nvSpPr>
        <p:spPr>
          <a:xfrm>
            <a:off x="477520" y="1449705"/>
            <a:ext cx="820928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(2) Setiap Orang yang melaksanakan hak ekonomi sebagaimana dimaksud pada ayat (1) wajib  mendapatkan izin Pencipta atau Pemegang Hak Cipta.</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None/>
            </a:pPr>
            <a:endParaRPr lang="en-US"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(3) Setiap Orang yang tanpa izin Pencipta atau Pemegang Hak Cipta dilarang melakukan            Penggandaan dan/atau Penggunaan Secara Komersial Ciptaan.</a:t>
            </a:r>
            <a:endParaRPr sz="1400" b="1">
              <a:latin typeface="Arial" panose="020B0604020202020204"/>
              <a:ea typeface="Arial" panose="020B0604020202020204"/>
              <a:cs typeface="Arial" panose="020B0604020202020204"/>
              <a:sym typeface="Arial" panose="020B0604020202020204"/>
            </a:endParaRPr>
          </a:p>
        </p:txBody>
      </p:sp>
      <p:sp>
        <p:nvSpPr>
          <p:cNvPr id="173" name="Google Shape;173;p14"/>
          <p:cNvSpPr txBox="1">
            <a:spLocks noGrp="1"/>
          </p:cNvSpPr>
          <p:nvPr>
            <p:ph type="title"/>
          </p:nvPr>
        </p:nvSpPr>
        <p:spPr>
          <a:xfrm>
            <a:off x="358775" y="358775"/>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2000"/>
              <a:buFont typeface="Arial" panose="020B0604020202020204"/>
              <a:buNone/>
            </a:pPr>
            <a:r>
              <a:rPr lang="en-US" sz="2000"/>
              <a:t>LANJUTAN</a:t>
            </a:r>
            <a:r>
              <a:rPr lang="en-US"/>
              <a:t> PASAL 9</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5"/>
          <p:cNvSpPr txBox="1">
            <a:spLocks noGrp="1"/>
          </p:cNvSpPr>
          <p:nvPr>
            <p:ph type="body" idx="2"/>
          </p:nvPr>
        </p:nvSpPr>
        <p:spPr>
          <a:xfrm>
            <a:off x="477520" y="1162685"/>
            <a:ext cx="820928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Ciptaan buku, dan/atau semua hasil karya tulis lainnya, lagu dan/atau musik dengan atau tanpa   teks yang dialihkan dalam perjanjian jual putus dan/atau pengalihan tanpa batas waktu, Hak       Ciptanya beralih kembali kepada Pencipta pada saat perjanjian tersebut mencapai jangka waktu 25 (dua puluh lima) tahun.</a:t>
            </a:r>
            <a:endParaRPr sz="1400">
              <a:latin typeface="Arial" panose="020B0604020202020204"/>
              <a:ea typeface="Arial" panose="020B0604020202020204"/>
              <a:cs typeface="Arial" panose="020B0604020202020204"/>
              <a:sym typeface="Arial" panose="020B0604020202020204"/>
            </a:endParaRPr>
          </a:p>
        </p:txBody>
      </p:sp>
      <p:sp>
        <p:nvSpPr>
          <p:cNvPr id="179" name="Google Shape;179;p15"/>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18</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body" idx="2"/>
          </p:nvPr>
        </p:nvSpPr>
        <p:spPr>
          <a:xfrm>
            <a:off x="334010" y="1162685"/>
            <a:ext cx="8345805"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Karya Pelaku Pertunjukan berupa lagu dan/atau musik yang dialihkan dan/atau dijual hak ekonominya, kepemilikan hak ekonominya beralih kembali kepada Pelaku pertunjukan setelah jangka waktu 25 (dua puluh lima) tahun</a:t>
            </a:r>
          </a:p>
        </p:txBody>
      </p:sp>
      <p:sp>
        <p:nvSpPr>
          <p:cNvPr id="185" name="Google Shape;185;p16"/>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30</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a:spLocks noGrp="1"/>
          </p:cNvSpPr>
          <p:nvPr>
            <p:ph type="body" idx="2"/>
          </p:nvPr>
        </p:nvSpPr>
        <p:spPr>
          <a:xfrm>
            <a:off x="334010" y="1162685"/>
            <a:ext cx="846074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None/>
            </a:pPr>
            <a:r>
              <a:rPr lang="en-US" sz="1400">
                <a:latin typeface="Arial" panose="020B0604020202020204"/>
                <a:ea typeface="Arial" panose="020B0604020202020204"/>
                <a:cs typeface="Arial" panose="020B0604020202020204"/>
                <a:sym typeface="Arial" panose="020B0604020202020204"/>
              </a:rPr>
              <a:t>(1) Ciptaan yang dilindungi meliputi Ciptaan dalam bidang ilmu pengetahuan, seni, dan sastra, terdiri atas:</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Buku, pamflet, perwajahan karya tulis yang diterbitkan, dan semua hasil karya tulis lainnya:</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Ceramah, kuliah, pidato, dan Ciptaan sejenis lainnya;</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Alat peraga yang dibuat untuk kepentingan pendidikan dan ilmu pengetahuan;</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Lagu dan/atau musik dengan atau tanpa teks;</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Drama, drama musikal, tari, koreografi, pewayangan,dan pantomim;</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Karya seni rupa dalam segala bentuk seperti lukisan, gambar, ukiran, kaligrafi, seni pahat, patung, atau kolase;</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karya seni terapan;</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karya arsitektur;</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peta;</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karya seni batik atau seni motif lain;</a:t>
            </a:r>
            <a:endParaRPr sz="1400">
              <a:latin typeface="Arial" panose="020B0604020202020204"/>
              <a:ea typeface="Arial" panose="020B0604020202020204"/>
              <a:cs typeface="Arial" panose="020B0604020202020204"/>
              <a:sym typeface="Arial" panose="020B0604020202020204"/>
            </a:endParaRPr>
          </a:p>
          <a:p>
            <a:pPr marL="4407535" lvl="8" indent="-330200" algn="just" rtl="0">
              <a:spcBef>
                <a:spcPts val="400"/>
              </a:spcBef>
              <a:spcAft>
                <a:spcPts val="0"/>
              </a:spcAft>
              <a:buClr>
                <a:schemeClr val="dk1"/>
              </a:buClr>
              <a:buSzPts val="2000"/>
              <a:buFont typeface="Malgun Gothic" panose="020B0503020000020004" pitchFamily="50" charset="-127"/>
              <a:buNone/>
            </a:pPr>
            <a:endParaRPr sz="1400">
              <a:latin typeface="Arial" panose="020B0604020202020204"/>
              <a:ea typeface="Arial" panose="020B0604020202020204"/>
              <a:cs typeface="Arial" panose="020B0604020202020204"/>
              <a:sym typeface="Arial" panose="020B0604020202020204"/>
            </a:endParaRPr>
          </a:p>
          <a:p>
            <a:pPr marL="635635" lvl="0" indent="-254000" algn="just" rtl="0">
              <a:spcBef>
                <a:spcPts val="280"/>
              </a:spcBef>
              <a:spcAft>
                <a:spcPts val="0"/>
              </a:spcAft>
              <a:buClr>
                <a:srgbClr val="3F3F3F"/>
              </a:buClr>
              <a:buSzPts val="1400"/>
              <a:buFont typeface="Malgun Gothic" panose="020B0503020000020004" pitchFamily="50" charset="-127"/>
              <a:buNone/>
            </a:pPr>
            <a:endParaRPr sz="1400">
              <a:latin typeface="Arial" panose="020B0604020202020204"/>
              <a:ea typeface="Arial" panose="020B0604020202020204"/>
              <a:cs typeface="Arial" panose="020B0604020202020204"/>
              <a:sym typeface="Arial" panose="020B0604020202020204"/>
            </a:endParaRPr>
          </a:p>
        </p:txBody>
      </p:sp>
      <p:sp>
        <p:nvSpPr>
          <p:cNvPr id="191" name="Google Shape;191;p17"/>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40 ayat (1)</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8"/>
          <p:cNvSpPr txBox="1">
            <a:spLocks noGrp="1"/>
          </p:cNvSpPr>
          <p:nvPr>
            <p:ph type="body" idx="2"/>
          </p:nvPr>
        </p:nvSpPr>
        <p:spPr>
          <a:xfrm>
            <a:off x="334010" y="1162685"/>
            <a:ext cx="8460740" cy="2995930"/>
          </a:xfrm>
          <a:prstGeom prst="rect">
            <a:avLst/>
          </a:prstGeom>
          <a:noFill/>
          <a:ln>
            <a:noFill/>
          </a:ln>
        </p:spPr>
        <p:txBody>
          <a:bodyPr spcFirstLastPara="1" wrap="square" lIns="396000" tIns="45700" rIns="91425" bIns="45700" anchor="t" anchorCtr="0">
            <a:noAutofit/>
          </a:bodyPr>
          <a:lstStyle/>
          <a:p>
            <a:pPr marL="635635" lvl="0" indent="-342900" algn="just" rtl="0">
              <a:spcBef>
                <a:spcPts val="0"/>
              </a:spcBef>
              <a:spcAft>
                <a:spcPts val="0"/>
              </a:spcAft>
              <a:buClr>
                <a:srgbClr val="3F3F3F"/>
              </a:buClr>
              <a:buSzPts val="1400"/>
              <a:buFont typeface="Malgun Gothic" panose="020B0503020000020004" pitchFamily="50" charset="-127"/>
              <a:buAutoNum type="alphaLcPeriod" startAt="11"/>
            </a:pPr>
            <a:r>
              <a:rPr lang="en-US" sz="1400">
                <a:latin typeface="Arial" panose="020B0604020202020204"/>
                <a:ea typeface="Arial" panose="020B0604020202020204"/>
                <a:cs typeface="Arial" panose="020B0604020202020204"/>
                <a:sym typeface="Arial" panose="020B0604020202020204"/>
              </a:rPr>
              <a:t>karya fotografi;</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startAt="11"/>
            </a:pPr>
            <a:r>
              <a:rPr lang="en-US" sz="1400">
                <a:latin typeface="Arial" panose="020B0604020202020204"/>
                <a:ea typeface="Arial" panose="020B0604020202020204"/>
                <a:cs typeface="Arial" panose="020B0604020202020204"/>
                <a:sym typeface="Arial" panose="020B0604020202020204"/>
              </a:rPr>
              <a:t>Potret;</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startAt="11"/>
            </a:pPr>
            <a:r>
              <a:rPr lang="en-US" sz="1400">
                <a:latin typeface="Arial" panose="020B0604020202020204"/>
                <a:ea typeface="Arial" panose="020B0604020202020204"/>
                <a:cs typeface="Arial" panose="020B0604020202020204"/>
                <a:sym typeface="Arial" panose="020B0604020202020204"/>
              </a:rPr>
              <a:t>Karya sinematograh;</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startAt="11"/>
            </a:pPr>
            <a:r>
              <a:rPr lang="en-US" sz="1400">
                <a:latin typeface="Arial" panose="020B0604020202020204"/>
                <a:ea typeface="Arial" panose="020B0604020202020204"/>
                <a:cs typeface="Arial" panose="020B0604020202020204"/>
                <a:sym typeface="Arial" panose="020B0604020202020204"/>
              </a:rPr>
              <a:t>Terjemahan, tafsir, saduran, bunga rampai, basis data, Adaptasi, aransemen, modifikasi dan karya lain dari Hasil transformasi</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startAt="11"/>
            </a:pPr>
            <a:r>
              <a:rPr lang="en-US" sz="1400">
                <a:latin typeface="Arial" panose="020B0604020202020204"/>
                <a:ea typeface="Arial" panose="020B0604020202020204"/>
                <a:cs typeface="Arial" panose="020B0604020202020204"/>
                <a:sym typeface="Arial" panose="020B0604020202020204"/>
              </a:rPr>
              <a:t>Terjemahan, adaptasi, aransemen, transformasi, atau modihkasi ekspresi budaya tradisional;</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startAt="11"/>
            </a:pPr>
            <a:r>
              <a:rPr lang="en-US" sz="1400">
                <a:latin typeface="Arial" panose="020B0604020202020204"/>
                <a:ea typeface="Arial" panose="020B0604020202020204"/>
                <a:cs typeface="Arial" panose="020B0604020202020204"/>
                <a:sym typeface="Arial" panose="020B0604020202020204"/>
              </a:rPr>
              <a:t>Kompilasi Ciptaan atau data, baik dalam format yang dapat dibaca dengan Program             Komputer maupun media lainnya;</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startAt="17"/>
            </a:pPr>
            <a:r>
              <a:rPr lang="en-US" sz="1400">
                <a:latin typeface="Arial" panose="020B0604020202020204"/>
                <a:ea typeface="Arial" panose="020B0604020202020204"/>
                <a:cs typeface="Arial" panose="020B0604020202020204"/>
                <a:sym typeface="Arial" panose="020B0604020202020204"/>
              </a:rPr>
              <a:t>Kompilasi ekspresi budaya tradisional selama kompilasi tersebut merupakan karya yang asli;</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startAt="17"/>
            </a:pPr>
            <a:r>
              <a:rPr lang="en-US" sz="1400">
                <a:latin typeface="Arial" panose="020B0604020202020204"/>
                <a:ea typeface="Arial" panose="020B0604020202020204"/>
                <a:cs typeface="Arial" panose="020B0604020202020204"/>
                <a:sym typeface="Arial" panose="020B0604020202020204"/>
              </a:rPr>
              <a:t>Permainan video; dan</a:t>
            </a:r>
            <a:endParaRPr sz="1400">
              <a:latin typeface="Arial" panose="020B0604020202020204"/>
              <a:ea typeface="Arial" panose="020B0604020202020204"/>
              <a:cs typeface="Arial" panose="020B0604020202020204"/>
              <a:sym typeface="Arial" panose="020B0604020202020204"/>
            </a:endParaRPr>
          </a:p>
          <a:p>
            <a:pPr marL="635635" lvl="0" indent="-342900" algn="just" rtl="0">
              <a:spcBef>
                <a:spcPts val="280"/>
              </a:spcBef>
              <a:spcAft>
                <a:spcPts val="0"/>
              </a:spcAft>
              <a:buClr>
                <a:srgbClr val="3F3F3F"/>
              </a:buClr>
              <a:buSzPts val="1400"/>
              <a:buFont typeface="Malgun Gothic" panose="020B0503020000020004" pitchFamily="50" charset="-127"/>
              <a:buAutoNum type="alphaLcPeriod" startAt="17"/>
            </a:pPr>
            <a:r>
              <a:rPr lang="en-US" sz="1400">
                <a:latin typeface="Arial" panose="020B0604020202020204"/>
                <a:ea typeface="Arial" panose="020B0604020202020204"/>
                <a:cs typeface="Arial" panose="020B0604020202020204"/>
                <a:sym typeface="Arial" panose="020B0604020202020204"/>
              </a:rPr>
              <a:t>Program Komputer.</a:t>
            </a:r>
            <a:endParaRPr sz="1400">
              <a:latin typeface="Arial" panose="020B0604020202020204"/>
              <a:ea typeface="Arial" panose="020B0604020202020204"/>
              <a:cs typeface="Arial" panose="020B0604020202020204"/>
              <a:sym typeface="Arial" panose="020B0604020202020204"/>
            </a:endParaRPr>
          </a:p>
        </p:txBody>
      </p:sp>
      <p:sp>
        <p:nvSpPr>
          <p:cNvPr id="197" name="Google Shape;197;p18"/>
          <p:cNvSpPr txBox="1">
            <a:spLocks noGrp="1"/>
          </p:cNvSpPr>
          <p:nvPr>
            <p:ph type="title"/>
          </p:nvPr>
        </p:nvSpPr>
        <p:spPr>
          <a:xfrm>
            <a:off x="358775" y="143510"/>
            <a:ext cx="86715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2000"/>
              <a:buFont typeface="Arial" panose="020B0604020202020204"/>
              <a:buNone/>
            </a:pPr>
            <a:r>
              <a:rPr lang="en-US" sz="2000"/>
              <a:t>LANJUTAN</a:t>
            </a:r>
            <a:r>
              <a:rPr lang="en-US"/>
              <a:t> PASAL 40 ayat (1) huruf d</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body" idx="2"/>
          </p:nvPr>
        </p:nvSpPr>
        <p:spPr>
          <a:xfrm>
            <a:off x="334010" y="1162685"/>
            <a:ext cx="846074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Penggandaan untuk kepentingan pribadi atas Ciptaan yang telah dilakukan Pengumuman hanya dapat dibuat sebanyak 1 (satu) salinan dan dapat dilakukan tanpa izin Pencipta atau Pemegang HakCipta.</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(2) Penggandaan untuk kepentingan pribadi sebagaimana dimaksud pada ayat (1) tidak mencakup:</a:t>
            </a:r>
            <a:endParaRPr sz="1400">
              <a:latin typeface="Arial" panose="020B0604020202020204"/>
              <a:ea typeface="Arial" panose="020B0604020202020204"/>
              <a:cs typeface="Arial" panose="020B0604020202020204"/>
              <a:sym typeface="Arial" panose="020B0604020202020204"/>
            </a:endParaRPr>
          </a:p>
          <a:p>
            <a:pPr marL="292735"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a. karya arsitektur dalam bentuk bangunan atau konstruksi lain;</a:t>
            </a:r>
            <a:endParaRPr sz="1400">
              <a:latin typeface="Arial" panose="020B0604020202020204"/>
              <a:ea typeface="Arial" panose="020B0604020202020204"/>
              <a:cs typeface="Arial" panose="020B0604020202020204"/>
              <a:sym typeface="Arial" panose="020B0604020202020204"/>
            </a:endParaRPr>
          </a:p>
          <a:p>
            <a:pPr marL="292735"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b. seluruh atau bagian yang substansial dari suatu buku atau notasi musik;</a:t>
            </a:r>
            <a:endParaRPr sz="1400">
              <a:latin typeface="Arial" panose="020B0604020202020204"/>
              <a:ea typeface="Arial" panose="020B0604020202020204"/>
              <a:cs typeface="Arial" panose="020B0604020202020204"/>
              <a:sym typeface="Arial" panose="020B0604020202020204"/>
            </a:endParaRPr>
          </a:p>
          <a:p>
            <a:pPr marL="292735"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c. seluruh atau bagian substansial dari database dalam bentuk digital;</a:t>
            </a:r>
            <a:endParaRPr sz="1400">
              <a:latin typeface="Arial" panose="020B0604020202020204"/>
              <a:ea typeface="Arial" panose="020B0604020202020204"/>
              <a:cs typeface="Arial" panose="020B0604020202020204"/>
              <a:sym typeface="Arial" panose="020B0604020202020204"/>
            </a:endParaRPr>
          </a:p>
          <a:p>
            <a:pPr marL="292735"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d. Program Komputer, kecuali sebagaimana dimaksud dalam Pasal 45 ayat (1); dan</a:t>
            </a:r>
            <a:endParaRPr sz="1400">
              <a:latin typeface="Arial" panose="020B0604020202020204"/>
              <a:ea typeface="Arial" panose="020B0604020202020204"/>
              <a:cs typeface="Arial" panose="020B0604020202020204"/>
              <a:sym typeface="Arial" panose="020B0604020202020204"/>
            </a:endParaRPr>
          </a:p>
          <a:p>
            <a:pPr marL="292735"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e. Penggandaan untuk kepentingan pribadi yang pelaksanaannya bertentangan dengan              kepentingan yang wajar dari Pencipta atau Pemegang Hak Cipta.</a:t>
            </a:r>
            <a:endParaRPr sz="1400">
              <a:latin typeface="Arial" panose="020B0604020202020204"/>
              <a:ea typeface="Arial" panose="020B0604020202020204"/>
              <a:cs typeface="Arial" panose="020B0604020202020204"/>
              <a:sym typeface="Arial" panose="020B0604020202020204"/>
            </a:endParaRPr>
          </a:p>
        </p:txBody>
      </p:sp>
      <p:sp>
        <p:nvSpPr>
          <p:cNvPr id="203" name="Google Shape;203;p19"/>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46 ayat (2) huruf b</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0"/>
          <p:cNvSpPr txBox="1">
            <a:spLocks noGrp="1"/>
          </p:cNvSpPr>
          <p:nvPr>
            <p:ph type="body" idx="2"/>
          </p:nvPr>
        </p:nvSpPr>
        <p:spPr>
          <a:xfrm>
            <a:off x="334010" y="1162685"/>
            <a:ext cx="8460740"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Pelindungan Hak Cipta atas Ciptaan:</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Buku, pamflet, dan semua hasrl karya tulis lainnya;</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Ceramah, kuliah, pidato, dan Ciptaan sejenis lainnya;</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Alat peraga yang dibuat untuk kepentingan pendidikan dan ilmu pengetahuan;</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Lagu atau musik dengan atau tanpa teks;</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Drama, drama musikal, tari, koreografi, pewayangan, dan pantomim;</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Karya seni rupa dalam segala bentuk seperti lukisan, gambar, ukiran, kaligrali, seni pahat,     patung, atau kolase;</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Karya arsitektur;</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Peta; dan</a:t>
            </a:r>
            <a:endParaRPr sz="1400">
              <a:latin typeface="Arial" panose="020B0604020202020204"/>
              <a:ea typeface="Arial" panose="020B0604020202020204"/>
              <a:cs typeface="Arial" panose="020B0604020202020204"/>
              <a:sym typeface="Arial" panose="020B0604020202020204"/>
            </a:endParaRPr>
          </a:p>
          <a:p>
            <a:pPr marL="585470"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Karya seni batik atau seni motif lain, berlaku selama hidup Pencipta dan terus berlangsung   selama 70 (tujuh puluh) tahun setelah Pencipta meninggal dunia, terhitung mulai tanggal 1    Januari tahun berikutnya.</a:t>
            </a:r>
            <a:endParaRPr sz="1400">
              <a:latin typeface="Arial" panose="020B0604020202020204"/>
              <a:ea typeface="Arial" panose="020B0604020202020204"/>
              <a:cs typeface="Arial" panose="020B0604020202020204"/>
              <a:sym typeface="Arial" panose="020B0604020202020204"/>
            </a:endParaRPr>
          </a:p>
        </p:txBody>
      </p:sp>
      <p:sp>
        <p:nvSpPr>
          <p:cNvPr id="209" name="Google Shape;209;p20"/>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58 ayat (1)</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1"/>
          <p:cNvSpPr txBox="1">
            <a:spLocks noGrp="1"/>
          </p:cNvSpPr>
          <p:nvPr>
            <p:ph type="body" idx="2"/>
          </p:nvPr>
        </p:nvSpPr>
        <p:spPr>
          <a:xfrm>
            <a:off x="334010" y="1162685"/>
            <a:ext cx="8582025"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Lembaga Manajemen Kolektif sebagaimana dimaksud dalam Pasal 87 ayat (1) wajib mengajukan Permohonan izin operasional kepada Menteri.</a:t>
            </a:r>
            <a:endParaRPr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0"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(2) lzin operasional sebagaimana dimaksud pada ayat (1) harus memenuhi syarat:</a:t>
            </a:r>
            <a:endParaRPr sz="1400">
              <a:latin typeface="Arial" panose="020B0604020202020204"/>
              <a:ea typeface="Arial" panose="020B0604020202020204"/>
              <a:cs typeface="Arial" panose="020B0604020202020204"/>
              <a:sym typeface="Arial" panose="020B0604020202020204"/>
            </a:endParaRPr>
          </a:p>
          <a:p>
            <a:pPr marL="606425"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Berbentuk badan hukum Indonesia yang bersifat nirlaba;</a:t>
            </a:r>
            <a:endParaRPr sz="1400">
              <a:latin typeface="Arial" panose="020B0604020202020204"/>
              <a:ea typeface="Arial" panose="020B0604020202020204"/>
              <a:cs typeface="Arial" panose="020B0604020202020204"/>
              <a:sym typeface="Arial" panose="020B0604020202020204"/>
            </a:endParaRPr>
          </a:p>
          <a:p>
            <a:pPr marL="606425"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Mendapat kuasa dari Pencipta, Pemegang Hak Cipta, atau pemi.lik Hak Terkait untuk menarik,menghimpun, dan mendistribusikan Royalti;</a:t>
            </a:r>
            <a:endParaRPr sz="1400">
              <a:latin typeface="Arial" panose="020B0604020202020204"/>
              <a:ea typeface="Arial" panose="020B0604020202020204"/>
              <a:cs typeface="Arial" panose="020B0604020202020204"/>
              <a:sym typeface="Arial" panose="020B0604020202020204"/>
            </a:endParaRPr>
          </a:p>
          <a:p>
            <a:pPr marL="606425"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Memiliki pemberi kuasa sebagai anggota paling sedikit 200 (dua ratus) orang Pencipta untuk  Lembaga Manajemen Kolektif bidang lagu dan/atau musik yang mewakili kepentingan</a:t>
            </a:r>
            <a:endParaRPr sz="1400">
              <a:latin typeface="Arial" panose="020B0604020202020204"/>
              <a:ea typeface="Arial" panose="020B0604020202020204"/>
              <a:cs typeface="Arial" panose="020B0604020202020204"/>
              <a:sym typeface="Arial" panose="020B0604020202020204"/>
            </a:endParaRPr>
          </a:p>
          <a:p>
            <a:pPr marL="606425"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pencipta dan paling sedikit 50 (lima puluh) orang untuk Lembaga Manajemen Kolektif yang    mewakili pemilik Hak Terkait dan/atau objek Hak Cipta lainnya;</a:t>
            </a:r>
            <a:endParaRPr sz="1400">
              <a:latin typeface="Arial" panose="020B0604020202020204"/>
              <a:ea typeface="Arial" panose="020B0604020202020204"/>
              <a:cs typeface="Arial" panose="020B0604020202020204"/>
              <a:sym typeface="Arial" panose="020B0604020202020204"/>
            </a:endParaRPr>
          </a:p>
          <a:p>
            <a:pPr marL="606425"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Bertujuan untuk menarik, menghimpun, dan mendistri busikan Royalti; dan</a:t>
            </a:r>
            <a:endParaRPr sz="1400">
              <a:latin typeface="Arial" panose="020B0604020202020204"/>
              <a:ea typeface="Arial" panose="020B0604020202020204"/>
              <a:cs typeface="Arial" panose="020B0604020202020204"/>
              <a:sym typeface="Arial" panose="020B0604020202020204"/>
            </a:endParaRPr>
          </a:p>
          <a:p>
            <a:pPr marL="606425" lvl="0" indent="-342265"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Mampu menarik, menghimpun, dan mendistribusikan Royalti kepada Pencipta, Pemegang Hak Cipta, atau pemilik Hak Terkait.</a:t>
            </a:r>
            <a:endParaRPr sz="1400">
              <a:latin typeface="Arial" panose="020B0604020202020204"/>
              <a:ea typeface="Arial" panose="020B0604020202020204"/>
              <a:cs typeface="Arial" panose="020B0604020202020204"/>
              <a:sym typeface="Arial" panose="020B0604020202020204"/>
            </a:endParaRPr>
          </a:p>
        </p:txBody>
      </p:sp>
      <p:sp>
        <p:nvSpPr>
          <p:cNvPr id="215" name="Google Shape;215;p21"/>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88</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2"/>
          <p:cNvSpPr txBox="1">
            <a:spLocks noGrp="1"/>
          </p:cNvSpPr>
          <p:nvPr>
            <p:ph type="body" idx="2"/>
          </p:nvPr>
        </p:nvSpPr>
        <p:spPr>
          <a:xfrm>
            <a:off x="334010" y="1162685"/>
            <a:ext cx="8582025" cy="2995930"/>
          </a:xfrm>
          <a:prstGeom prst="rect">
            <a:avLst/>
          </a:prstGeom>
          <a:noFill/>
          <a:ln>
            <a:noFill/>
          </a:ln>
        </p:spPr>
        <p:txBody>
          <a:bodyPr spcFirstLastPara="1" wrap="square" lIns="396000" tIns="45700" rIns="91425" bIns="45700" anchor="t" anchorCtr="0">
            <a:noAutofit/>
          </a:bodyPr>
          <a:lstStyle/>
          <a:p>
            <a:pPr marL="0"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Untuk pengelolaan Royalti Hak Cipta bidang lagu dan/atau musik dibentuk 2 (dua) Lembaga         Manajemen Kolektif nasional yang masing-masing merepresentasikan keterwakilan sebagai berikut:</a:t>
            </a:r>
            <a:endParaRPr sz="1400">
              <a:latin typeface="Arial" panose="020B0604020202020204"/>
              <a:ea typeface="Arial" panose="020B0604020202020204"/>
              <a:cs typeface="Arial" panose="020B0604020202020204"/>
              <a:sym typeface="Arial" panose="020B0604020202020204"/>
            </a:endParaRPr>
          </a:p>
          <a:p>
            <a:pPr marL="627380" lvl="0" indent="-34163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Kepentingan Pencipta; dan</a:t>
            </a:r>
            <a:endParaRPr sz="1400">
              <a:latin typeface="Arial" panose="020B0604020202020204"/>
              <a:ea typeface="Arial" panose="020B0604020202020204"/>
              <a:cs typeface="Arial" panose="020B0604020202020204"/>
              <a:sym typeface="Arial" panose="020B0604020202020204"/>
            </a:endParaRPr>
          </a:p>
          <a:p>
            <a:pPr marL="627380" lvl="0" indent="-341630" algn="just" rtl="0">
              <a:spcBef>
                <a:spcPts val="280"/>
              </a:spcBef>
              <a:spcAft>
                <a:spcPts val="0"/>
              </a:spcAft>
              <a:buClr>
                <a:srgbClr val="3F3F3F"/>
              </a:buClr>
              <a:buSzPts val="1400"/>
              <a:buFont typeface="Malgun Gothic" panose="020B0503020000020004" pitchFamily="50" charset="-127"/>
              <a:buAutoNum type="alphaLcPeriod"/>
            </a:pPr>
            <a:r>
              <a:rPr lang="en-US" sz="1400">
                <a:latin typeface="Arial" panose="020B0604020202020204"/>
                <a:ea typeface="Arial" panose="020B0604020202020204"/>
                <a:cs typeface="Arial" panose="020B0604020202020204"/>
                <a:sym typeface="Arial" panose="020B0604020202020204"/>
              </a:rPr>
              <a:t>Kepentingan pemilik Hak Terkait.</a:t>
            </a:r>
            <a:endParaRPr sz="1400">
              <a:latin typeface="Arial" panose="020B0604020202020204"/>
              <a:ea typeface="Arial" panose="020B0604020202020204"/>
              <a:cs typeface="Arial" panose="020B0604020202020204"/>
              <a:sym typeface="Arial" panose="020B0604020202020204"/>
            </a:endParaRPr>
          </a:p>
          <a:p>
            <a:pPr marL="342900" lvl="0" indent="-342900" algn="just" rtl="0">
              <a:spcBef>
                <a:spcPts val="280"/>
              </a:spcBef>
              <a:spcAft>
                <a:spcPts val="0"/>
              </a:spcAft>
              <a:buClr>
                <a:srgbClr val="3F3F3F"/>
              </a:buClr>
              <a:buSzPts val="1400"/>
              <a:buFont typeface="Malgun Gothic" panose="020B0503020000020004" pitchFamily="50" charset="-127"/>
              <a:buNone/>
            </a:pPr>
            <a:endParaRPr sz="1400">
              <a:latin typeface="Arial" panose="020B0604020202020204"/>
              <a:ea typeface="Arial" panose="020B0604020202020204"/>
              <a:cs typeface="Arial" panose="020B0604020202020204"/>
              <a:sym typeface="Arial" panose="020B0604020202020204"/>
            </a:endParaRPr>
          </a:p>
        </p:txBody>
      </p:sp>
      <p:sp>
        <p:nvSpPr>
          <p:cNvPr id="221" name="Google Shape;221;p22"/>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89 ayat (1)</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3"/>
          <p:cNvSpPr txBox="1">
            <a:spLocks noGrp="1"/>
          </p:cNvSpPr>
          <p:nvPr>
            <p:ph type="body" idx="2"/>
          </p:nvPr>
        </p:nvSpPr>
        <p:spPr>
          <a:xfrm>
            <a:off x="-635" y="1132205"/>
            <a:ext cx="8916670" cy="2995930"/>
          </a:xfrm>
          <a:prstGeom prst="rect">
            <a:avLst/>
          </a:prstGeom>
          <a:noFill/>
          <a:ln>
            <a:noFill/>
          </a:ln>
        </p:spPr>
        <p:txBody>
          <a:bodyPr spcFirstLastPara="1" wrap="square" lIns="396000" tIns="45700" rIns="91425" bIns="45700" anchor="t" anchorCtr="0">
            <a:noAutofit/>
          </a:bodyPr>
          <a:lstStyle/>
          <a:p>
            <a:pPr marL="10795"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(1) Setiap Orang yang dengan tanpa hak melakukan pelanggaran hak ekonomi sebagaimana dimaksud    dalam Pasal 9 ayat (1) huruf i untuk Penggunaan Secara Komersial dipidana dengan pidana penjara         paling lama 1 (satu) tahun dan/atau pidana denda paling banyak Rp 100.000.000 (seratus juta rupiah).</a:t>
            </a:r>
            <a:endParaRPr sz="1400">
              <a:latin typeface="Arial" panose="020B0604020202020204"/>
              <a:ea typeface="Arial" panose="020B0604020202020204"/>
              <a:cs typeface="Arial" panose="020B0604020202020204"/>
              <a:sym typeface="Arial" panose="020B0604020202020204"/>
            </a:endParaRPr>
          </a:p>
          <a:p>
            <a:pPr marL="10795"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10795"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(2) Setiap Orang yang dengan tanpa hak dan/atau tanpa izin Pencipta atau pemegang Hak Cipta             melakukan pelanggaran hak ekonomi Pencipta sebagaimana dimaksud dalam Pasal 9 ayat (1) huruf c,     huruf d, huruf f, dan/atau huruf h untuk Penggunaan Secara Komersial dipidana dengan pidana penjara    paling lama 3 (tiga) tahun dan/atau pidana denda paling banyak Rp500.000.000,00 (lima ratus juta rupiah).</a:t>
            </a:r>
            <a:endParaRPr sz="1400">
              <a:latin typeface="Arial" panose="020B0604020202020204"/>
              <a:ea typeface="Arial" panose="020B0604020202020204"/>
              <a:cs typeface="Arial" panose="020B0604020202020204"/>
              <a:sym typeface="Arial" panose="020B0604020202020204"/>
            </a:endParaRPr>
          </a:p>
          <a:p>
            <a:pPr marL="10795" lvl="0" indent="0" algn="just" rtl="0">
              <a:spcBef>
                <a:spcPts val="280"/>
              </a:spcBef>
              <a:spcAft>
                <a:spcPts val="0"/>
              </a:spcAft>
              <a:buClr>
                <a:srgbClr val="3F3F3F"/>
              </a:buClr>
              <a:buSzPts val="1400"/>
              <a:buFont typeface="Malgun Gothic" panose="020B0503020000020004" pitchFamily="50" charset="-127"/>
              <a:buNone/>
            </a:pPr>
            <a:endParaRPr lang="en-US" sz="1400">
              <a:latin typeface="Arial" panose="020B0604020202020204"/>
              <a:ea typeface="Arial" panose="020B0604020202020204"/>
              <a:cs typeface="Arial" panose="020B0604020202020204"/>
              <a:sym typeface="Arial" panose="020B0604020202020204"/>
            </a:endParaRPr>
          </a:p>
          <a:p>
            <a:pPr marL="10795" lvl="0" indent="0" algn="just" rtl="0">
              <a:spcBef>
                <a:spcPts val="28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(3) Setiap Orang yang dengan tanpa hak dan/atau tanpa izin Pencipta atau pemegang Hak Cipta             melakukan pelanggaran hak ekonomi Pencipta sebagaimana dimaksud dalam Pasal 9 ayat (l) huruf a,      huruf b, huruf e, dan/atau huruf g untuk Penggunaan Secara Komersial dipidana dengan pidana penjara   paling lama 4 (empat) tahun dan/ atau pidana denda paling banyak Rp1.000.000.000,00 (satu miliar          rupiah).</a:t>
            </a:r>
            <a:endParaRPr sz="1400">
              <a:latin typeface="Arial" panose="020B0604020202020204"/>
              <a:ea typeface="Arial" panose="020B0604020202020204"/>
              <a:cs typeface="Arial" panose="020B0604020202020204"/>
              <a:sym typeface="Arial" panose="020B0604020202020204"/>
            </a:endParaRPr>
          </a:p>
          <a:p>
            <a:pPr marL="10795" lvl="0" indent="0" algn="just" rtl="0">
              <a:spcBef>
                <a:spcPts val="280"/>
              </a:spcBef>
              <a:spcAft>
                <a:spcPts val="0"/>
              </a:spcAft>
              <a:buClr>
                <a:srgbClr val="3F3F3F"/>
              </a:buClr>
              <a:buSzPts val="1400"/>
              <a:buFont typeface="Malgun Gothic" panose="020B0503020000020004" pitchFamily="50" charset="-127"/>
              <a:buNone/>
            </a:pPr>
            <a:endParaRPr sz="1400">
              <a:latin typeface="Arial" panose="020B0604020202020204"/>
              <a:ea typeface="Arial" panose="020B0604020202020204"/>
              <a:cs typeface="Arial" panose="020B0604020202020204"/>
              <a:sym typeface="Arial" panose="020B0604020202020204"/>
            </a:endParaRPr>
          </a:p>
        </p:txBody>
      </p:sp>
      <p:sp>
        <p:nvSpPr>
          <p:cNvPr id="227" name="Google Shape;227;p23"/>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3600"/>
              <a:buFont typeface="Arial" panose="020B0604020202020204"/>
              <a:buNone/>
            </a:pPr>
            <a:r>
              <a:rPr lang="en-US"/>
              <a:t>PASAL 113</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a:spLocks noGrp="1"/>
          </p:cNvSpPr>
          <p:nvPr>
            <p:ph type="body" idx="2"/>
          </p:nvPr>
        </p:nvSpPr>
        <p:spPr>
          <a:xfrm>
            <a:off x="0" y="1131570"/>
            <a:ext cx="8916670" cy="2995930"/>
          </a:xfrm>
          <a:prstGeom prst="rect">
            <a:avLst/>
          </a:prstGeom>
          <a:noFill/>
          <a:ln>
            <a:noFill/>
          </a:ln>
        </p:spPr>
        <p:txBody>
          <a:bodyPr spcFirstLastPara="1" wrap="square" lIns="396000" tIns="45700" rIns="91425" bIns="45700" anchor="t" anchorCtr="0">
            <a:noAutofit/>
          </a:bodyPr>
          <a:lstStyle/>
          <a:p>
            <a:pPr marL="10795" lvl="0" indent="0" algn="just" rtl="0">
              <a:spcBef>
                <a:spcPts val="0"/>
              </a:spcBef>
              <a:spcAft>
                <a:spcPts val="0"/>
              </a:spcAft>
              <a:buClr>
                <a:srgbClr val="3F3F3F"/>
              </a:buClr>
              <a:buSzPts val="1400"/>
              <a:buFont typeface="Malgun Gothic" panose="020B0503020000020004" pitchFamily="50" charset="-127"/>
              <a:buNone/>
            </a:pPr>
            <a:r>
              <a:rPr lang="en-US" sz="1400">
                <a:latin typeface="Arial" panose="020B0604020202020204"/>
                <a:ea typeface="Arial" panose="020B0604020202020204"/>
                <a:cs typeface="Arial" panose="020B0604020202020204"/>
                <a:sym typeface="Arial" panose="020B0604020202020204"/>
              </a:rPr>
              <a:t>(4) Setiap Orang yang memenuhi unsur sebagaimana dimaksud pada ayat (3) yang dilakukan dalam        bentuk pembajakan, dipidana dengan pidana penjara paling lama 10 (sepuluh) tahun dan/atau pidana       denda paling banyak Rp 4.000.000.000,00 (empat miliar rupiah).</a:t>
            </a:r>
            <a:endParaRPr sz="1400">
              <a:latin typeface="Arial" panose="020B0604020202020204"/>
              <a:ea typeface="Arial" panose="020B0604020202020204"/>
              <a:cs typeface="Arial" panose="020B0604020202020204"/>
              <a:sym typeface="Arial" panose="020B0604020202020204"/>
            </a:endParaRPr>
          </a:p>
        </p:txBody>
      </p:sp>
      <p:sp>
        <p:nvSpPr>
          <p:cNvPr id="233" name="Google Shape;233;p24"/>
          <p:cNvSpPr txBox="1">
            <a:spLocks noGrp="1"/>
          </p:cNvSpPr>
          <p:nvPr>
            <p:ph type="title"/>
          </p:nvPr>
        </p:nvSpPr>
        <p:spPr>
          <a:xfrm>
            <a:off x="358775" y="143510"/>
            <a:ext cx="8049260" cy="88455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3F3F3F"/>
              </a:buClr>
              <a:buSzPts val="2000"/>
              <a:buFont typeface="Arial" panose="020B0604020202020204"/>
              <a:buNone/>
            </a:pPr>
            <a:r>
              <a:rPr lang="en-US" sz="2000"/>
              <a:t>LANJUTAN</a:t>
            </a:r>
            <a:r>
              <a:rPr lang="en-US"/>
              <a:t> PASAL 113</a:t>
            </a:r>
            <a:br>
              <a:rPr lang="en-US"/>
            </a:br>
            <a:r>
              <a:rPr lang="en-US" sz="1400"/>
              <a:t>UU RI Nomor 28 Tahun 2014</a:t>
            </a:r>
            <a:br>
              <a:rPr lang="en-US" sz="1400"/>
            </a:br>
            <a:r>
              <a:rPr lang="en-US" sz="1400"/>
              <a:t>Tentang Hak Cipta</a:t>
            </a:r>
            <a:endParaRPr sz="1400"/>
          </a:p>
        </p:txBody>
      </p:sp>
    </p:spTree>
  </p:cSld>
  <p:clrMapOvr>
    <a:masterClrMapping/>
  </p:clrMapOvr>
  <p:transition>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914140" y="1425575"/>
            <a:ext cx="309880" cy="368300"/>
          </a:xfrm>
          <a:prstGeom prst="rect">
            <a:avLst/>
          </a:prstGeom>
          <a:noFill/>
        </p:spPr>
        <p:txBody>
          <a:bodyPr wrap="none" rtlCol="0">
            <a:spAutoFit/>
          </a:bodyPr>
          <a:lstStyle/>
          <a:p>
            <a:endParaRPr lang="en-US"/>
          </a:p>
        </p:txBody>
      </p:sp>
      <p:sp>
        <p:nvSpPr>
          <p:cNvPr id="3" name="Text Box 2"/>
          <p:cNvSpPr txBox="1"/>
          <p:nvPr/>
        </p:nvSpPr>
        <p:spPr>
          <a:xfrm>
            <a:off x="2987675" y="2218690"/>
            <a:ext cx="3119120" cy="706755"/>
          </a:xfrm>
          <a:prstGeom prst="rect">
            <a:avLst/>
          </a:prstGeom>
          <a:noFill/>
        </p:spPr>
        <p:txBody>
          <a:bodyPr wrap="none" rtlCol="0">
            <a:spAutoFit/>
          </a:bodyPr>
          <a:lstStyle/>
          <a:p>
            <a:r>
              <a:rPr lang="en-US" sz="4000" u="sng">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Terima Kasih</a:t>
            </a:r>
          </a:p>
        </p:txBody>
      </p:sp>
    </p:spTree>
  </p:cSld>
  <p:clrMapOvr>
    <a:masterClrMapping/>
  </p:clrMapOvr>
  <p:transition>
    <p:wheel spokes="8"/>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2667</Words>
  <Application>Microsoft Office PowerPoint</Application>
  <PresentationFormat>On-screen Show (16:9)</PresentationFormat>
  <Paragraphs>167</Paragraphs>
  <Slides>28</Slides>
  <Notes>19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Malgun Gothic</vt:lpstr>
      <vt:lpstr>Malgun Gothic</vt:lpstr>
      <vt:lpstr>Arial</vt:lpstr>
      <vt:lpstr>Calibri</vt:lpstr>
      <vt:lpstr>Times New Roman</vt:lpstr>
      <vt:lpstr>Wingdings</vt:lpstr>
      <vt:lpstr>Office Theme</vt:lpstr>
      <vt:lpstr>Custom Design</vt:lpstr>
      <vt:lpstr>PowerPoint Presentation</vt:lpstr>
      <vt:lpstr>PowerPoint Presentation</vt:lpstr>
      <vt:lpstr>Alur Kasus</vt:lpstr>
      <vt:lpstr>Alur Plagiasi Musik di Dalam Negeri  (Lanjutan Kasus 1) </vt:lpstr>
      <vt:lpstr>Dampak Yang Di Dapat</vt:lpstr>
      <vt:lpstr>PowerPoint Presentation</vt:lpstr>
      <vt:lpstr>Alur Kasus 2</vt:lpstr>
      <vt:lpstr>Alur Plagiasi Musik di Luar Negeri  (Lanjutan Kasus 2) </vt:lpstr>
      <vt:lpstr>Dampak Plagiasi (kasus 2)</vt:lpstr>
      <vt:lpstr>ATURAN DAN SANKSI PLAGIARISME</vt:lpstr>
      <vt:lpstr>PASAL 27 UU RI Nomor 11 Tahun 2008 Tentang Informasi dan Transaksi Elektronik</vt:lpstr>
      <vt:lpstr>PASAL 32 UU RI Nomor 11 Tahun 2008 Tentang Informasi dan Transaksi Elektronik</vt:lpstr>
      <vt:lpstr>PASAL 34 UU RI Nomor 11 Tahun 2008 Tentang Informasi dan Transaksi Elektronik</vt:lpstr>
      <vt:lpstr>PASAL 50 UU RI Nomor 11 Tahun 2008 Tentang Informasi dan Transaksi Elektronik</vt:lpstr>
      <vt:lpstr>ATURAN DAN SANKSI PLAGIARISME MUSIK</vt:lpstr>
      <vt:lpstr>PASAL 9 UU RI Nomor 28 Tahun 2014 Tentang Hak Cipta</vt:lpstr>
      <vt:lpstr>LANJUTAN PASAL 9 UU RI Nomor 28 Tahun 2014 Tentang Hak Cipta</vt:lpstr>
      <vt:lpstr>PASAL 18 UU RI Nomor 28 Tahun 2014 Tentang Hak Cipta</vt:lpstr>
      <vt:lpstr>PASAL 30 UU RI Nomor 28 Tahun 2014 Tentang Hak Cipta</vt:lpstr>
      <vt:lpstr>PASAL 40 ayat (1) UU RI Nomor 28 Tahun 2014 Tentang Hak Cipta</vt:lpstr>
      <vt:lpstr>LANJUTAN PASAL 40 ayat (1) huruf d UU RI Nomor 28 Tahun 2014 Tentang Hak Cipta</vt:lpstr>
      <vt:lpstr>PASAL 46 ayat (2) huruf b UU RI Nomor 28 Tahun 2014 Tentang Hak Cipta</vt:lpstr>
      <vt:lpstr>PASAL 58 ayat (1) UU RI Nomor 28 Tahun 2014 Tentang Hak Cipta</vt:lpstr>
      <vt:lpstr>PASAL 88 UU RI Nomor 28 Tahun 2014 Tentang Hak Cipta</vt:lpstr>
      <vt:lpstr>PASAL 89 ayat (1) UU RI Nomor 28 Tahun 2014 Tentang Hak Cipta</vt:lpstr>
      <vt:lpstr>PASAL 113 UU RI Nomor 28 Tahun 2014 Tentang Hak Cipta</vt:lpstr>
      <vt:lpstr>LANJUTAN PASAL 113 UU RI Nomor 28 Tahun 2014 Tentang Hak Cipta</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Rizky Syawal</cp:lastModifiedBy>
  <cp:revision>33</cp:revision>
  <dcterms:created xsi:type="dcterms:W3CDTF">2014-04-01T16:27:00Z</dcterms:created>
  <dcterms:modified xsi:type="dcterms:W3CDTF">2021-09-05T14:35:39Z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AD422F4CD53147788F1641EAAC065D2C</vt:lpwstr>
  </property>
  <property fmtid="{D5CDD505-2E9C-101B-9397-08002B2CF9AE}" pid="3" name="KSOProductBuildVer">
    <vt:lpwstr>1033-11.2.0.10258</vt:lpwstr>
  </property>
</Properties>
</file>